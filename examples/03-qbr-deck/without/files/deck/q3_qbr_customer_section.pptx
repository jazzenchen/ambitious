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ustomer" id="{5a969f89-4b62-dbd7-10d9-603d3dcc79d1}">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B6B7A"/>
                </a:solidFill>
                <a:latin typeface="+mn-lt"/>
              </a:defRPr>
            </a:pPr>
            <a:r>
              <a:rPr sz="1200" b="0" i="0" u="none" strike="noStrike">
                <a:solidFill>
                  <a:srgbClr val="5B6B7A"/>
                </a:solidFill>
                <a:latin typeface="+mn-lt"/>
              </a:rPr>
              <a:t>Net new MRR by segment, Q3 (June → September)</a:t>
            </a:r>
          </a:p>
        </c:rich>
      </c:tx>
      <c:layout/>
      <c:overlay val="0"/>
    </c:title>
    <c:autoTitleDeleted val="0"/>
    <c:plotArea>
      <c:layout/>
      <c:barChart>
        <c:barDir val="bar"/>
        <c:grouping val="clustered"/>
        <c:varyColors val="0"/>
        <c:ser>
          <c:idx val="0"/>
          <c:order val="0"/>
          <c:tx>
            <c:strRef>
              <c:f>Sheet1!$B$1</c:f>
              <c:strCache>
                <c:ptCount val="1"/>
                <c:pt idx="0">
                  <c:v>Net new MRR (Jun→Sep)</c:v>
                </c:pt>
              </c:strCache>
            </c:strRef>
          </c:tx>
          <c:spPr>
            <a:solidFill>
              <a:srgbClr val="2A8C82"/>
            </a:solidFill>
            <a:effectLst/>
          </c:spPr>
          <c:invertIfNegative val="0"/>
          <c:dLbls>
            <c:numFmt formatCode="$#,##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dPt>
            <c:idx val="0"/>
            <c:invertIfNegative val="0"/>
            <c:bubble3D val="0"/>
            <c:spPr>
              <a:solidFill>
                <a:srgbClr val="2A8C82"/>
              </a:solidFill>
              <a:effectLst/>
            </c:spPr>
          </c:dPt>
          <c:dPt>
            <c:idx val="1"/>
            <c:invertIfNegative val="0"/>
            <c:bubble3D val="0"/>
            <c:spPr>
              <a:solidFill>
                <a:srgbClr val="2A8C82"/>
              </a:solidFill>
              <a:effectLst/>
            </c:spPr>
          </c:dPt>
          <c:dPt>
            <c:idx val="2"/>
            <c:invertIfNegative val="0"/>
            <c:bubble3D val="0"/>
            <c:spPr>
              <a:solidFill>
                <a:srgbClr val="C4502F"/>
              </a:solidFill>
              <a:effectLst/>
            </c:spPr>
          </c:dPt>
          <c:cat>
            <c:multiLvlStrRef>
              <c:f>Sheet1!$A$2:$A$4</c:f>
              <c:multiLvlStrCache>
                <c:ptCount val="3"/>
                <c:lvl>
                  <c:pt idx="0">
                    <c:v>Enterprise</c:v>
                  </c:pt>
                  <c:pt idx="1">
                    <c:v>Mid-market</c:v>
                  </c:pt>
                  <c:pt idx="2">
                    <c:v>SMB</c:v>
                  </c:pt>
                </c:lvl>
              </c:multiLvlStrCache>
            </c:multiLvlStrRef>
          </c:cat>
          <c:val>
            <c:numRef>
              <c:f>Sheet1!$B$2:$B$4</c:f>
              <c:numCache>
                <c:formatCode>General</c:formatCode>
                <c:ptCount val="3"/>
                <c:pt idx="0">
                  <c:v>48000</c:v>
                </c:pt>
                <c:pt idx="1">
                  <c:v>15600</c:v>
                </c:pt>
                <c:pt idx="2">
                  <c:v>2300</c:v>
                </c:pt>
              </c:numCache>
            </c:numRef>
          </c:val>
        </c:ser>
        <c:dLbls>
          <c:numFmt formatCode="$#,##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B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New</c:v>
                </c:pt>
              </c:strCache>
            </c:strRef>
          </c:tx>
          <c:spPr>
            <a:solidFill>
              <a:srgbClr val="A7B1BB"/>
            </a:solidFill>
            <a:effectLst/>
          </c:spPr>
          <c:invertIfNegative val="0"/>
          <c:dLbls>
            <c:numFmt formatCode="#,##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cat>
            <c:multiLvlStrRef>
              <c:f>Sheet1!$A$2:$A$7</c:f>
              <c:multiLvlStrCache>
                <c:ptCount val="6"/>
                <c:lvl>
                  <c:pt idx="0">
                    <c:v>Apr</c:v>
                  </c:pt>
                  <c:pt idx="1">
                    <c:v>May</c:v>
                  </c:pt>
                  <c:pt idx="2">
                    <c:v>Jun</c:v>
                  </c:pt>
                  <c:pt idx="3">
                    <c:v>Jul</c:v>
                  </c:pt>
                  <c:pt idx="4">
                    <c:v>Aug</c:v>
                  </c:pt>
                  <c:pt idx="5">
                    <c:v>Sep</c:v>
                  </c:pt>
                </c:lvl>
              </c:multiLvlStrCache>
            </c:multiLvlStrRef>
          </c:cat>
          <c:val>
            <c:numRef>
              <c:f>Sheet1!$B$2:$B$7</c:f>
              <c:numCache>
                <c:formatCode>General</c:formatCode>
                <c:ptCount val="6"/>
                <c:pt idx="0">
                  <c:v>210</c:v>
                </c:pt>
                <c:pt idx="1">
                  <c:v>198</c:v>
                </c:pt>
                <c:pt idx="2">
                  <c:v>225</c:v>
                </c:pt>
                <c:pt idx="3">
                  <c:v>240</c:v>
                </c:pt>
                <c:pt idx="4">
                  <c:v>231</c:v>
                </c:pt>
                <c:pt idx="5">
                  <c:v>262</c:v>
                </c:pt>
              </c:numCache>
            </c:numRef>
          </c:val>
        </c:ser>
        <c:ser>
          <c:idx val="1"/>
          <c:order val="1"/>
          <c:tx>
            <c:strRef>
              <c:f>Sheet1!$C$1</c:f>
              <c:strCache>
                <c:ptCount val="1"/>
                <c:pt idx="0">
                  <c:v>Churned</c:v>
                </c:pt>
              </c:strCache>
            </c:strRef>
          </c:tx>
          <c:spPr>
            <a:solidFill>
              <a:srgbClr val="C4502F"/>
            </a:solidFill>
            <a:effectLst/>
          </c:spPr>
          <c:invertIfNegative val="0"/>
          <c:dLbls>
            <c:numFmt formatCode="#,##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cat>
            <c:multiLvlStrRef>
              <c:f>Sheet1!$A$2:$A$7</c:f>
              <c:multiLvlStrCache>
                <c:ptCount val="6"/>
                <c:lvl>
                  <c:pt idx="0">
                    <c:v>Apr</c:v>
                  </c:pt>
                  <c:pt idx="1">
                    <c:v>May</c:v>
                  </c:pt>
                  <c:pt idx="2">
                    <c:v>Jun</c:v>
                  </c:pt>
                  <c:pt idx="3">
                    <c:v>Jul</c:v>
                  </c:pt>
                  <c:pt idx="4">
                    <c:v>Aug</c:v>
                  </c:pt>
                  <c:pt idx="5">
                    <c:v>Sep</c:v>
                  </c:pt>
                </c:lvl>
              </c:multiLvlStrCache>
            </c:multiLvlStrRef>
          </c:cat>
          <c:val>
            <c:numRef>
              <c:f>Sheet1!$C$2:$C$7</c:f>
              <c:numCache>
                <c:formatCode>General</c:formatCode>
                <c:ptCount val="6"/>
                <c:pt idx="0">
                  <c:v>48</c:v>
                </c:pt>
                <c:pt idx="1">
                  <c:v>61</c:v>
                </c:pt>
                <c:pt idx="2">
                  <c:v>74</c:v>
                </c:pt>
                <c:pt idx="3">
                  <c:v>83</c:v>
                </c:pt>
                <c:pt idx="4">
                  <c:v>96</c:v>
                </c:pt>
                <c:pt idx="5">
                  <c:v>104</c:v>
                </c:pt>
              </c:numCache>
            </c:numRef>
          </c:val>
        </c:ser>
        <c:dLbls>
          <c:numFmt formatCode="#,##0" sourceLinked="0"/>
          <c:txPr>
            <a:bodyPr/>
            <a:lstStyle/>
            <a:p>
              <a:pPr>
                <a:defRPr b="0" i="0" strike="noStrike" sz="1100" u="none">
                  <a:solidFill>
                    <a:srgbClr val="1C2733"/>
                  </a:solidFill>
                  <a:latin typeface="+mn-lt"/>
                </a:defRPr>
              </a:pPr>
            </a:p>
          </c:txPr>
          <c:showLegendKey val="0"/>
          <c:showVal val="1"/>
          <c:showCatName val="0"/>
          <c:showSerName val="0"/>
          <c:showPercent val="0"/>
          <c:showBubbleSize val="0"/>
          <c:showLeaderLines val="0"/>
        </c:dLbls>
        <c:gapWidth val="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5B6B7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B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B6B7A"/>
                </a:solidFill>
                <a:latin typeface="+mn-lt"/>
              </a:defRPr>
            </a:pPr>
            <a:r>
              <a:rPr sz="1200" b="0" i="0" u="none" strike="noStrike">
                <a:solidFill>
                  <a:srgbClr val="5B6B7A"/>
                </a:solidFill>
                <a:latin typeface="+mn-lt"/>
              </a:rPr>
              <a:t>Average first response time (hours)</a:t>
            </a:r>
          </a:p>
        </c:rich>
      </c:tx>
      <c:layout/>
      <c:overlay val="0"/>
    </c:title>
    <c:autoTitleDeleted val="0"/>
    <c:plotArea>
      <c:layout/>
      <c:lineChart>
        <c:varyColors val="0"/>
        <c:ser>
          <c:idx val="0"/>
          <c:order val="0"/>
          <c:tx>
            <c:strRef>
              <c:f>Sheet1!$B$1</c:f>
              <c:strCache>
                <c:ptCount val="1"/>
                <c:pt idx="0">
                  <c:v>SMB</c:v>
                </c:pt>
              </c:strCache>
            </c:strRef>
          </c:tx>
          <c:spPr>
            <a:solidFill>
              <a:srgbClr val="C4502F"/>
            </a:solidFill>
            <a:ln w="31750" cap="flat">
              <a:solidFill>
                <a:srgbClr val="C4502F"/>
              </a:solidFill>
              <a:prstDash val="solid"/>
              <a:round/>
            </a:ln>
            <a:effectLst/>
          </c:spPr>
          <c:invertIfNegative val="0"/>
          <c:dLbls>
            <c:numFmt formatCode="#,##0" sourceLinked="0"/>
            <c:txPr>
              <a:bodyPr/>
              <a:lstStyle/>
              <a:p>
                <a:pPr>
                  <a:defRPr b="0" i="0" strike="noStrike" sz="1100" u="none">
                    <a:solidFill>
                      <a:srgbClr val="1C2733"/>
                    </a:solidFill>
                    <a:latin typeface="+mn-lt"/>
                  </a:defRPr>
                </a:pPr>
              </a:p>
            </c:txPr>
            <c:showLegendKey val="0"/>
            <c:showVal val="0"/>
            <c:showCatName val="0"/>
            <c:showSerName val="0"/>
            <c:showPercent val="0"/>
            <c:showBubbleSize val="0"/>
            <c:showLeaderLines val="0"/>
          </c:dLbls>
          <c:marker>
            <c:symbol val="circle"/>
            <c:size val="6"/>
            <c:spPr>
              <a:solidFill>
                <a:srgbClr val="C4502F"/>
              </a:solidFill>
              <a:ln w="9525" cap="flat">
                <a:solidFill>
                  <a:srgbClr val="C4502F"/>
                </a:solidFill>
                <a:prstDash val="solid"/>
                <a:round/>
              </a:ln>
              <a:effectLst/>
            </c:spPr>
          </c:marker>
          <c:cat>
            <c:multiLvlStrRef>
              <c:f>Sheet1!$A$2:$A$7</c:f>
              <c:multiLvlStrCache>
                <c:ptCount val="6"/>
                <c:lvl>
                  <c:pt idx="0">
                    <c:v>Apr</c:v>
                  </c:pt>
                  <c:pt idx="1">
                    <c:v>May</c:v>
                  </c:pt>
                  <c:pt idx="2">
                    <c:v>Jun</c:v>
                  </c:pt>
                  <c:pt idx="3">
                    <c:v>Jul</c:v>
                  </c:pt>
                  <c:pt idx="4">
                    <c:v>Aug</c:v>
                  </c:pt>
                  <c:pt idx="5">
                    <c:v>Sep</c:v>
                  </c:pt>
                </c:lvl>
              </c:multiLvlStrCache>
            </c:multiLvlStrRef>
          </c:cat>
          <c:val>
            <c:numRef>
              <c:f>Sheet1!$B$2:$B$7</c:f>
              <c:numCache>
                <c:formatCode>General</c:formatCode>
                <c:ptCount val="6"/>
                <c:pt idx="0">
                  <c:v>6.1</c:v>
                </c:pt>
                <c:pt idx="1">
                  <c:v>7.4</c:v>
                </c:pt>
                <c:pt idx="2">
                  <c:v>9.8</c:v>
                </c:pt>
                <c:pt idx="3">
                  <c:v>11.2</c:v>
                </c:pt>
                <c:pt idx="4">
                  <c:v>12.6</c:v>
                </c:pt>
                <c:pt idx="5">
                  <c:v>13.9</c:v>
                </c:pt>
              </c:numCache>
            </c:numRef>
          </c:val>
          <c:smooth val="0"/>
        </c:ser>
        <c:ser>
          <c:idx val="1"/>
          <c:order val="1"/>
          <c:tx>
            <c:strRef>
              <c:f>Sheet1!$C$1</c:f>
              <c:strCache>
                <c:ptCount val="1"/>
                <c:pt idx="0">
                  <c:v>Mid-market</c:v>
                </c:pt>
              </c:strCache>
            </c:strRef>
          </c:tx>
          <c:spPr>
            <a:solidFill>
              <a:srgbClr val="A7B1BB"/>
            </a:solidFill>
            <a:ln w="31750" cap="flat">
              <a:solidFill>
                <a:srgbClr val="A7B1BB"/>
              </a:solidFill>
              <a:prstDash val="solid"/>
              <a:round/>
            </a:ln>
            <a:effectLst/>
          </c:spPr>
          <c:invertIfNegative val="0"/>
          <c:dLbls>
            <c:numFmt formatCode="#,##0" sourceLinked="0"/>
            <c:txPr>
              <a:bodyPr/>
              <a:lstStyle/>
              <a:p>
                <a:pPr>
                  <a:defRPr b="0" i="0" strike="noStrike" sz="1100" u="none">
                    <a:solidFill>
                      <a:srgbClr val="1C2733"/>
                    </a:solidFill>
                    <a:latin typeface="+mn-lt"/>
                  </a:defRPr>
                </a:pPr>
              </a:p>
            </c:txPr>
            <c:showLegendKey val="0"/>
            <c:showVal val="0"/>
            <c:showCatName val="0"/>
            <c:showSerName val="0"/>
            <c:showPercent val="0"/>
            <c:showBubbleSize val="0"/>
            <c:showLeaderLines val="0"/>
          </c:dLbls>
          <c:marker>
            <c:symbol val="circle"/>
            <c:size val="6"/>
            <c:spPr>
              <a:solidFill>
                <a:srgbClr val="A7B1BB"/>
              </a:solidFill>
              <a:ln w="9525" cap="flat">
                <a:solidFill>
                  <a:srgbClr val="A7B1BB"/>
                </a:solidFill>
                <a:prstDash val="solid"/>
                <a:round/>
              </a:ln>
              <a:effectLst/>
            </c:spPr>
          </c:marker>
          <c:cat>
            <c:multiLvlStrRef>
              <c:f>Sheet1!$A$2:$A$7</c:f>
              <c:multiLvlStrCache>
                <c:ptCount val="6"/>
                <c:lvl>
                  <c:pt idx="0">
                    <c:v>Apr</c:v>
                  </c:pt>
                  <c:pt idx="1">
                    <c:v>May</c:v>
                  </c:pt>
                  <c:pt idx="2">
                    <c:v>Jun</c:v>
                  </c:pt>
                  <c:pt idx="3">
                    <c:v>Jul</c:v>
                  </c:pt>
                  <c:pt idx="4">
                    <c:v>Aug</c:v>
                  </c:pt>
                  <c:pt idx="5">
                    <c:v>Sep</c:v>
                  </c:pt>
                </c:lvl>
              </c:multiLvlStrCache>
            </c:multiLvlStrRef>
          </c:cat>
          <c:val>
            <c:numRef>
              <c:f>Sheet1!$C$2:$C$7</c:f>
              <c:numCache>
                <c:formatCode>General</c:formatCode>
                <c:ptCount val="6"/>
                <c:pt idx="0">
                  <c:v>4.2</c:v>
                </c:pt>
                <c:pt idx="1">
                  <c:v>4.5</c:v>
                </c:pt>
                <c:pt idx="2">
                  <c:v>5</c:v>
                </c:pt>
                <c:pt idx="3">
                  <c:v>4.8</c:v>
                </c:pt>
                <c:pt idx="4">
                  <c:v>5.3</c:v>
                </c:pt>
                <c:pt idx="5">
                  <c:v>5.1</c:v>
                </c:pt>
              </c:numCache>
            </c:numRef>
          </c:val>
          <c:smooth val="0"/>
        </c:ser>
        <c:ser>
          <c:idx val="2"/>
          <c:order val="2"/>
          <c:tx>
            <c:strRef>
              <c:f>Sheet1!$D$1</c:f>
              <c:strCache>
                <c:ptCount val="1"/>
                <c:pt idx="0">
                  <c:v>Enterprise</c:v>
                </c:pt>
              </c:strCache>
            </c:strRef>
          </c:tx>
          <c:spPr>
            <a:solidFill>
              <a:srgbClr val="7A8C99"/>
            </a:solidFill>
            <a:ln w="31750" cap="flat">
              <a:solidFill>
                <a:srgbClr val="7A8C99"/>
              </a:solidFill>
              <a:prstDash val="solid"/>
              <a:round/>
            </a:ln>
            <a:effectLst/>
          </c:spPr>
          <c:invertIfNegative val="0"/>
          <c:dLbls>
            <c:numFmt formatCode="#,##0" sourceLinked="0"/>
            <c:txPr>
              <a:bodyPr/>
              <a:lstStyle/>
              <a:p>
                <a:pPr>
                  <a:defRPr b="0" i="0" strike="noStrike" sz="1100" u="none">
                    <a:solidFill>
                      <a:srgbClr val="1C2733"/>
                    </a:solidFill>
                    <a:latin typeface="+mn-lt"/>
                  </a:defRPr>
                </a:pPr>
              </a:p>
            </c:txPr>
            <c:showLegendKey val="0"/>
            <c:showVal val="0"/>
            <c:showCatName val="0"/>
            <c:showSerName val="0"/>
            <c:showPercent val="0"/>
            <c:showBubbleSize val="0"/>
            <c:showLeaderLines val="0"/>
          </c:dLbls>
          <c:marker>
            <c:symbol val="circle"/>
            <c:size val="6"/>
            <c:spPr>
              <a:solidFill>
                <a:srgbClr val="7A8C99"/>
              </a:solidFill>
              <a:ln w="9525" cap="flat">
                <a:solidFill>
                  <a:srgbClr val="7A8C99"/>
                </a:solidFill>
                <a:prstDash val="solid"/>
                <a:round/>
              </a:ln>
              <a:effectLst/>
            </c:spPr>
          </c:marker>
          <c:cat>
            <c:multiLvlStrRef>
              <c:f>Sheet1!$A$2:$A$7</c:f>
              <c:multiLvlStrCache>
                <c:ptCount val="6"/>
                <c:lvl>
                  <c:pt idx="0">
                    <c:v>Apr</c:v>
                  </c:pt>
                  <c:pt idx="1">
                    <c:v>May</c:v>
                  </c:pt>
                  <c:pt idx="2">
                    <c:v>Jun</c:v>
                  </c:pt>
                  <c:pt idx="3">
                    <c:v>Jul</c:v>
                  </c:pt>
                  <c:pt idx="4">
                    <c:v>Aug</c:v>
                  </c:pt>
                  <c:pt idx="5">
                    <c:v>Sep</c:v>
                  </c:pt>
                </c:lvl>
              </c:multiLvlStrCache>
            </c:multiLvlStrRef>
          </c:cat>
          <c:val>
            <c:numRef>
              <c:f>Sheet1!$D$2:$D$7</c:f>
              <c:numCache>
                <c:formatCode>General</c:formatCode>
                <c:ptCount val="6"/>
                <c:pt idx="0">
                  <c:v>2</c:v>
                </c:pt>
                <c:pt idx="1">
                  <c:v>1.9</c:v>
                </c:pt>
                <c:pt idx="2">
                  <c:v>2.4</c:v>
                </c:pt>
                <c:pt idx="3">
                  <c:v>2.1</c:v>
                </c:pt>
                <c:pt idx="4">
                  <c:v>2.2</c:v>
                </c:pt>
                <c:pt idx="5">
                  <c:v>2.3</c:v>
                </c:pt>
              </c:numCache>
            </c:numRef>
          </c:val>
          <c:smooth val="0"/>
        </c:ser>
        <c:dLbls>
          <c:numFmt formatCode="#,##0" sourceLinked="0"/>
          <c:txPr>
            <a:bodyPr/>
            <a:lstStyle/>
            <a:p>
              <a:pPr>
                <a:defRPr b="0" i="0" strike="noStrike" sz="1100" u="none">
                  <a:solidFill>
                    <a:srgbClr val="1C2733"/>
                  </a:solidFill>
                  <a:latin typeface="+mn-lt"/>
                </a:defRPr>
              </a:pPr>
            </a:p>
          </c:txP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6350" cap="flat">
              <a:solidFill>
                <a:srgbClr val="DDE2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6B7A"/>
                </a:solidFill>
                <a:latin typeface="+mn-lt"/>
              </a:defRPr>
            </a:pPr>
            <a:endParaRPr lang="en-US"/>
          </a:p>
        </c:txPr>
        <c:crossAx val="2094734554"/>
        <c:crosses val="autoZero"/>
        <c:crossBetween val="between"/>
        <c:majorUnit val="4"/>
      </c:valAx>
      <c:spPr>
        <a:noFill/>
        <a:ln>
          <a:noFill/>
        </a:ln>
        <a:effectLst/>
      </c:spPr>
    </c:plotArea>
    <c:legend>
      <c:legendPos val="t"/>
      <c:overlay val="0"/>
      <c:txPr>
        <a:bodyPr/>
        <a:lstStyle/>
        <a:p>
          <a:pPr>
            <a:defRPr sz="1100">
              <a:solidFill>
                <a:srgbClr val="5B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Churned customers</c:v>
                </c:pt>
              </c:strCache>
            </c:strRef>
          </c:tx>
          <c:spPr>
            <a:solidFill>
              <a:srgbClr val="C4502F"/>
            </a:solidFill>
            <a:ln>
              <a:noFill/>
            </a:ln>
            <a:effectLst/>
          </c:spPr>
          <c:marker>
            <c:symbol val="circle"/>
            <c:size val="10"/>
            <c:spPr>
              <a:solidFill>
                <a:srgbClr val="C4502F"/>
              </a:solidFill>
              <a:ln w="9525" cap="flat">
                <a:solidFill>
                  <a:srgbClr val="C4502F"/>
                </a:solidFill>
                <a:prstDash val="solid"/>
                <a:round/>
              </a:ln>
              <a:effectLst/>
            </c:spPr>
          </c:marker>
          <c:dLbls>
            <c:dLbl>
              <c:idx val="0"/>
              <c:tx>
                <c:rich>
                  <a:bodyPr>
                    <a:spAutoFit/>
                  </a:bodyPr>
                  <a:lstStyle/>
                  <a:p>
                    <a:pPr>
                      <a:defRPr/>
                    </a:pPr>
                    <a:r>
                      <a:rPr lang="en-US" dirty="0"/>
                      <a:t>Apr</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fe1c-f289-b7c0-4425b98310d7}"/>
                </c:ext>
              </c:extLst>
            </c:dLbl>
            <c:dLbl>
              <c:idx val="1"/>
              <c:tx>
                <c:rich>
                  <a:bodyPr>
                    <a:spAutoFit/>
                  </a:bodyPr>
                  <a:lstStyle/>
                  <a:p>
                    <a:pPr>
                      <a:defRPr/>
                    </a:pPr>
                    <a:r>
                      <a:rPr lang="en-US" dirty="0"/>
                      <a:t>May</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fe1c-f289-b7c0-4425b98310d7}"/>
                </c:ext>
              </c:extLst>
            </c:dLbl>
            <c:dLbl>
              <c:idx val="2"/>
              <c:tx>
                <c:rich>
                  <a:bodyPr>
                    <a:spAutoFit/>
                  </a:bodyPr>
                  <a:lstStyle/>
                  <a:p>
                    <a:pPr>
                      <a:defRPr/>
                    </a:pPr>
                    <a:r>
                      <a:rPr lang="en-US" dirty="0"/>
                      <a:t>Jun</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fe1c-f289-b7c0-4425b98310d7}"/>
                </c:ext>
              </c:extLst>
            </c:dLbl>
            <c:dLbl>
              <c:idx val="3"/>
              <c:tx>
                <c:rich>
                  <a:bodyPr>
                    <a:spAutoFit/>
                  </a:bodyPr>
                  <a:lstStyle/>
                  <a:p>
                    <a:pPr>
                      <a:defRPr/>
                    </a:pPr>
                    <a:r>
                      <a:rPr lang="en-US" dirty="0"/>
                      <a:t>Jul</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fe1c-f289-b7c0-4425b98310d7}"/>
                </c:ext>
              </c:extLst>
            </c:dLbl>
            <c:dLbl>
              <c:idx val="4"/>
              <c:tx>
                <c:rich>
                  <a:bodyPr>
                    <a:spAutoFit/>
                  </a:bodyPr>
                  <a:lstStyle/>
                  <a:p>
                    <a:pPr>
                      <a:defRPr/>
                    </a:pPr>
                    <a:r>
                      <a:rPr lang="en-US" dirty="0"/>
                      <a:t>Aug</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fe1c-f289-b7c0-4425b98310d7}"/>
                </c:ext>
              </c:extLst>
            </c:dLbl>
            <c:dLbl>
              <c:idx val="5"/>
              <c:tx>
                <c:rich>
                  <a:bodyPr>
                    <a:spAutoFit/>
                  </a:bodyPr>
                  <a:lstStyle/>
                  <a:p>
                    <a:pPr>
                      <a:defRPr/>
                    </a:pPr>
                    <a:r>
                      <a:rPr lang="en-US" dirty="0"/>
                      <a:t>Sep</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fe1c-f289-b7c0-4425b98310d7}"/>
                </c:ext>
              </c:extLst>
            </c:dLbl>
          </c:dLbls>
          <c:xVal>
            <c:numRef>
              <c:f>Sheet1!$A$2:$A$7</c:f>
              <c:numCache>
                <c:formatCode>General</c:formatCode>
                <c:ptCount val="6"/>
                <c:pt idx="0">
                  <c:v>6.1</c:v>
                </c:pt>
                <c:pt idx="1">
                  <c:v>7.4</c:v>
                </c:pt>
                <c:pt idx="2">
                  <c:v>9.8</c:v>
                </c:pt>
                <c:pt idx="3">
                  <c:v>11.2</c:v>
                </c:pt>
                <c:pt idx="4">
                  <c:v>12.6</c:v>
                </c:pt>
                <c:pt idx="5">
                  <c:v>13.9</c:v>
                </c:pt>
              </c:numCache>
            </c:numRef>
          </c:xVal>
          <c:yVal>
            <c:numRef>
              <c:f>Sheet1!$B$2:$B$7</c:f>
              <c:numCache>
                <c:formatCode>General</c:formatCode>
                <c:ptCount val="6"/>
                <c:pt idx="0">
                  <c:v>48</c:v>
                </c:pt>
                <c:pt idx="1">
                  <c:v>61</c:v>
                </c:pt>
                <c:pt idx="2">
                  <c:v>74</c:v>
                </c:pt>
                <c:pt idx="3">
                  <c:v>83</c:v>
                </c:pt>
                <c:pt idx="4">
                  <c:v>96</c:v>
                </c:pt>
                <c:pt idx="5">
                  <c:v>104</c:v>
                </c:pt>
              </c:numCache>
            </c:numRef>
          </c:yVal>
          <c:smooth val="0"/>
        </c:ser>
        <c:dLbls>
          <c:numFmt formatCode="General" sourceLinked="0"/>
          <c:txPr>
            <a:bodyPr/>
            <a:lstStyle/>
            <a:p>
              <a:pPr>
                <a:defRPr b="0" i="0" strike="noStrike" sz="1100" u="none">
                  <a:solidFill>
                    <a:srgbClr val="1C2733"/>
                  </a:solidFill>
                  <a:latin typeface="+mn-lt"/>
                </a:defRPr>
              </a:pPr>
            </a:p>
          </c:txPr>
          <c:dLblPos val="r"/>
          <c:showLegendKey val="0"/>
          <c:showVal val="0"/>
          <c:showCatName val="0"/>
          <c:showSerName val="0"/>
          <c:showPercent val="0"/>
          <c:showBubbleSize val="0"/>
        </c:dLbls>
        <c:axId val="2094734554"/>
        <c:axId val="2094734552"/>
      </c:scatterChart>
      <c:valAx>
        <c:axId val="2094734554"/>
        <c:scaling>
          <c:orientation val="minMax"/>
          <c:max val="16"/>
          <c:min val="4"/>
        </c:scaling>
        <c:delete val="0"/>
        <c:axPos val="b"/>
        <c:title>
          <c:tx>
            <c:rich>
              <a:bodyPr/>
              <a:lstStyle/>
              <a:p>
                <a:pPr>
                  <a:defRPr sz="1100" b="0" i="0" u="none" strike="noStrike">
                    <a:solidFill>
                      <a:srgbClr val="5B6B7A"/>
                    </a:solidFill>
                    <a:latin typeface="Arial"/>
                  </a:defRPr>
                </a:pPr>
                <a:r>
                  <a:rPr sz="1100" b="0" i="0" u="none" strike="noStrike">
                    <a:solidFill>
                      <a:srgbClr val="5B6B7A"/>
                    </a:solidFill>
                    <a:latin typeface="Arial"/>
                  </a:rPr>
                  <a:t>SMB avg first response (hours)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2"/>
        <c:crosses val="autoZero"/>
        <c:auto val="1"/>
        <c:lblAlgn val="ctr"/>
        <c:noMultiLvlLbl val="1"/>
        <c:majorUnit val="2"/>
      </c:valAx>
      <c:valAx>
        <c:axId val="2094734552"/>
        <c:scaling>
          <c:orientation val="minMax"/>
          <c:max val="110"/>
          <c:min val="40"/>
        </c:scaling>
        <c:delete val="0"/>
        <c:axPos val="l"/>
        <c:majorGridlines>
          <c:spPr>
            <a:ln w="6350" cap="flat">
              <a:solidFill>
                <a:srgbClr val="DDE2E7"/>
              </a:solidFill>
              <a:prstDash val="solid"/>
              <a:round/>
            </a:ln>
          </c:spPr>
        </c:majorGridlines>
        <c:title>
          <c:tx>
            <c:rich>
              <a:bodyPr/>
              <a:lstStyle/>
              <a:p>
                <a:pPr>
                  <a:defRPr sz="1100" b="0" i="0" u="none" strike="noStrike">
                    <a:solidFill>
                      <a:srgbClr val="5B6B7A"/>
                    </a:solidFill>
                    <a:latin typeface="Arial"/>
                  </a:defRPr>
                </a:pPr>
                <a:r>
                  <a:rPr sz="1100" b="0" i="0" u="none" strike="noStrike">
                    <a:solidFill>
                      <a:srgbClr val="5B6B7A"/>
                    </a:solidFill>
                    <a:latin typeface="Arial"/>
                  </a:rPr>
                  <a:t>SMB customers churned</a:t>
                </a:r>
              </a:p>
            </c:rich>
          </c:tx>
          <c:layout/>
          <c:overlay val="0"/>
        </c:title>
        <c:numFmt formatCode="General" sourceLinked="0"/>
        <c:majorTickMark val="none"/>
        <c:minorTickMark val="none"/>
        <c:tickLblPos val="nextTo"/>
        <c:spPr>
          <a:ln w="12700" cap="flat">
            <a:noFill/>
            <a:prstDash val="solid"/>
            <a:round/>
          </a:ln>
        </c:spPr>
        <c:txPr>
          <a:bodyPr/>
          <a:lstStyle/>
          <a:p>
            <a:pPr>
              <a:defRPr sz="1000" b="0" i="0" u="none" strike="noStrike">
                <a:solidFill>
                  <a:srgbClr val="5B6B7A"/>
                </a:solidFill>
                <a:latin typeface="+mn-lt"/>
              </a:defRPr>
            </a:pPr>
            <a:endParaRPr lang="en-US"/>
          </a:p>
        </c:txPr>
        <c:crossAx val="2094734554"/>
        <c:crosses val="autoZero"/>
        <c:crossBetween val="midCat"/>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about one thing: SMB. Revenue grew well this quarter, but almost all of it came from enterprise and mid-market. In SMB we signed more customers than ever, and lost so many more that net growth didn't move. The support data points to one likely cause, and we're asking for a decision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Revenue is up 8% QoQ, which is healthy, but it's carried by enterprise. SMB net adds were flat: we signed 733 SMB customers versus 633 last quarter, but churned 283 versus 183. Over the same period SMB first response time more than doubled. I'll walk through each, then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MRR went from $812.6K in June to $878.5K in September, up $65.9K. Enterprise was $48K of that. SMB added about $2K, despite 450 net new SMB customers. That works out to roughly $5 of MRR per net new customer, which doesn't add up: either new customers are on much smaller plans, the ones leaving were bigger, or existing customers are downgrading. We don't have that breakdown yet; flag it as an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'SMB is fine, we're adding more logos than ever.' Both halves are true: new SMB customers are at a record. But churn grew faster, every single month, from 48 in April to 104 in September. Net adds were exactly 450 in both Q2 and Q3. All of Sales' extra effort went into replacing customers we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Mid-market and enterprise response times are flat at about 5 and 2 hours. SMB has climbed every month, from 6 hours to almost 14. Ticket volume grew 66% over the same period, which tracks with more customers, but support capacity for SMB clearly didn't keep up. NPS fell 12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a month. The relationship is almost a straight line. I want to be careful here: it's six months, and both lines are trending up together, so this is a strong hypothesis, not proof. The fastest way to confirm is to pull ticket history for the SMB accounts that churned in Q3 and see if they had slow or unresolved tickets before they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completeness: enterprise and mid-market look healthy on every measure. Enterprise lost one customer in each quarter, NPS is in the low 50s, response is about two hours. Mid-market churn went from 13 to 18, which I'd watch, but nothing else there is moving. Every red number on this slide is SMB.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asks. The first is the real decision: SMB support capacity. If the churn link holds, every month at 14-hour response costs us roughly 100 SMB customers. The second is how we confirm the link quickly, before committing a lot of money. The third is a reporting change, so a strong gross number can't hide a flat net number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97480"/>
            <a:ext cx="731520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US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tx2"/>
                </a:solidFill>
              </a:rPr>
              <a:t>Acme Q3 2026 QBR  |  Customer</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97280"/>
          </a:xfrm>
          <a:prstGeom prst="rect">
            <a:avLst/>
          </a:prstGeom>
          <a:noFill/>
          <a:ln/>
        </p:spPr>
        <p:txBody>
          <a:bodyPr wrap="square" lIns="0" tIns="0" rIns="0" bIns="0" rtlCol="0" anchor="b"/>
          <a:lstStyle/>
          <a:p>
            <a:pPr algn="l" indent="0" marL="0">
              <a:buNone/>
            </a:pPr>
            <a:r>
              <a:rPr lang="en-US" sz="4000" b="1" dirty="0">
                <a:solidFill>
                  <a:schemeClr val="bg1"/>
                </a:solidFill>
              </a:rPr>
              <a:t>Customer: Q3 2026</a:t>
            </a:r>
            <a:endParaRPr lang="en-US" sz="4000" dirty="0"/>
          </a:p>
        </p:txBody>
      </p:sp>
      <p:sp>
        <p:nvSpPr>
          <p:cNvPr id="3" name="Text 0"/>
          <p:cNvSpPr/>
          <p:nvPr>
            <p:ph idx="101" type="body" hasCustomPrompt="1"/>
          </p:nvPr>
        </p:nvSpPr>
        <p:spPr>
          <a:xfrm>
            <a:off x="548640" y="2697480"/>
            <a:ext cx="7315200" cy="1097280"/>
          </a:xfrm>
          <a:prstGeom prst="rect">
            <a:avLst/>
          </a:prstGeom>
          <a:noFill/>
          <a:ln/>
        </p:spPr>
        <p:txBody>
          <a:bodyPr wrap="square" lIns="0" tIns="0" rIns="0" bIns="0" rtlCol="0" anchor="t"/>
          <a:lstStyle/>
          <a:p>
            <a:pPr algn="l" indent="0" marL="0">
              <a:buNone/>
            </a:pPr>
            <a:r>
              <a:rPr lang="en-US" sz="1800" dirty="0">
                <a:solidFill>
                  <a:schemeClr val="bg2"/>
                </a:solidFill>
              </a:rPr>
              <a:t>We're signing more SMB customers than ever, and losing them almost as fast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Q3 at a glance: strong revenue, a leak in SMB</a:t>
            </a:r>
            <a:endParaRPr lang="en-US" sz="2600" dirty="0"/>
          </a:p>
        </p:txBody>
      </p:sp>
      <p:sp>
        <p:nvSpPr>
          <p:cNvPr id="3" name="stat-card-1"/>
          <p:cNvSpPr/>
          <p:nvPr/>
        </p:nvSpPr>
        <p:spPr>
          <a:xfrm>
            <a:off x="457200" y="1234440"/>
            <a:ext cx="2560320" cy="2743200"/>
          </a:xfrm>
          <a:prstGeom prst="roundRect">
            <a:avLst>
              <a:gd name="adj" fmla="val 2857"/>
            </a:avLst>
          </a:prstGeom>
          <a:solidFill>
            <a:schemeClr val="bg2"/>
          </a:solidFill>
          <a:ln/>
        </p:spPr>
      </p:sp>
      <p:sp>
        <p:nvSpPr>
          <p:cNvPr id="4" name="Text 2"/>
          <p:cNvSpPr txBox="1"/>
          <p:nvPr/>
        </p:nvSpPr>
        <p:spPr>
          <a:xfrm>
            <a:off x="685800" y="1463040"/>
            <a:ext cx="2103120" cy="86868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+8.1%</a:t>
            </a:r>
            <a:endParaRPr lang="en-US" sz="4800" dirty="0"/>
          </a:p>
        </p:txBody>
      </p:sp>
      <p:sp>
        <p:nvSpPr>
          <p:cNvPr id="5" name="Text 3"/>
          <p:cNvSpPr txBox="1"/>
          <p:nvPr/>
        </p:nvSpPr>
        <p:spPr>
          <a:xfrm>
            <a:off x="685800" y="2423160"/>
            <a:ext cx="2103120" cy="502920"/>
          </a:xfrm>
          <a:prstGeom prst="rect">
            <a:avLst/>
          </a:prstGeom>
          <a:noFill/>
          <a:ln/>
        </p:spPr>
        <p:txBody>
          <a:bodyPr wrap="square" lIns="0" tIns="0" rIns="0" bIns="0" rtlCol="0" anchor="t"/>
          <a:lstStyle/>
          <a:p>
            <a:pPr indent="0" marL="0">
              <a:buNone/>
            </a:pPr>
            <a:r>
              <a:rPr lang="en-US" sz="1500" b="1" dirty="0">
                <a:solidFill>
                  <a:schemeClr val="tx1"/>
                </a:solidFill>
              </a:rPr>
              <a:t>Total MRR, June to September</a:t>
            </a:r>
            <a:endParaRPr lang="en-US" sz="1500" dirty="0"/>
          </a:p>
        </p:txBody>
      </p:sp>
      <p:sp>
        <p:nvSpPr>
          <p:cNvPr id="6" name="Text 4"/>
          <p:cNvSpPr txBox="1"/>
          <p:nvPr/>
        </p:nvSpPr>
        <p:spPr>
          <a:xfrm>
            <a:off x="685800" y="2971800"/>
            <a:ext cx="2103120" cy="868680"/>
          </a:xfrm>
          <a:prstGeom prst="rect">
            <a:avLst/>
          </a:prstGeom>
          <a:noFill/>
          <a:ln/>
        </p:spPr>
        <p:txBody>
          <a:bodyPr wrap="square" lIns="0" tIns="0" rIns="0" bIns="0" rtlCol="0" anchor="t"/>
          <a:lstStyle/>
          <a:p>
            <a:pPr indent="0" marL="0">
              <a:buNone/>
            </a:pPr>
            <a:r>
              <a:rPr lang="en-US" sz="1300" dirty="0">
                <a:solidFill>
                  <a:schemeClr val="tx2"/>
                </a:solidFill>
              </a:rPr>
              <a:t>$812.6K → $878.5K. Enterprise drove 73% of the gain.</a:t>
            </a:r>
            <a:endParaRPr lang="en-US" sz="1300" dirty="0"/>
          </a:p>
        </p:txBody>
      </p:sp>
      <p:sp>
        <p:nvSpPr>
          <p:cNvPr id="7" name="stat-card-2"/>
          <p:cNvSpPr/>
          <p:nvPr/>
        </p:nvSpPr>
        <p:spPr>
          <a:xfrm>
            <a:off x="3291840" y="1234440"/>
            <a:ext cx="2560320" cy="2743200"/>
          </a:xfrm>
          <a:prstGeom prst="roundRect">
            <a:avLst>
              <a:gd name="adj" fmla="val 2857"/>
            </a:avLst>
          </a:prstGeom>
          <a:solidFill>
            <a:schemeClr val="bg2"/>
          </a:solidFill>
          <a:ln/>
        </p:spPr>
      </p:sp>
      <p:sp>
        <p:nvSpPr>
          <p:cNvPr id="8" name="Text 6"/>
          <p:cNvSpPr txBox="1"/>
          <p:nvPr/>
        </p:nvSpPr>
        <p:spPr>
          <a:xfrm>
            <a:off x="3520440" y="1463040"/>
            <a:ext cx="210312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450</a:t>
            </a:r>
            <a:endParaRPr lang="en-US" sz="4800" dirty="0"/>
          </a:p>
        </p:txBody>
      </p:sp>
      <p:sp>
        <p:nvSpPr>
          <p:cNvPr id="9" name="Text 7"/>
          <p:cNvSpPr txBox="1"/>
          <p:nvPr/>
        </p:nvSpPr>
        <p:spPr>
          <a:xfrm>
            <a:off x="3520440" y="2423160"/>
            <a:ext cx="2103120" cy="502920"/>
          </a:xfrm>
          <a:prstGeom prst="rect">
            <a:avLst/>
          </a:prstGeom>
          <a:noFill/>
          <a:ln/>
        </p:spPr>
        <p:txBody>
          <a:bodyPr wrap="square" lIns="0" tIns="0" rIns="0" bIns="0" rtlCol="0" anchor="t"/>
          <a:lstStyle/>
          <a:p>
            <a:pPr indent="0" marL="0">
              <a:buNone/>
            </a:pPr>
            <a:r>
              <a:rPr lang="en-US" sz="1500" b="1" dirty="0">
                <a:solidFill>
                  <a:schemeClr val="tx1"/>
                </a:solidFill>
              </a:rPr>
              <a:t>SMB net new customers in Q3</a:t>
            </a:r>
            <a:endParaRPr lang="en-US" sz="1500" dirty="0"/>
          </a:p>
        </p:txBody>
      </p:sp>
      <p:sp>
        <p:nvSpPr>
          <p:cNvPr id="10" name="Text 8"/>
          <p:cNvSpPr txBox="1"/>
          <p:nvPr/>
        </p:nvSpPr>
        <p:spPr>
          <a:xfrm>
            <a:off x="3520440" y="2971800"/>
            <a:ext cx="2103120" cy="868680"/>
          </a:xfrm>
          <a:prstGeom prst="rect">
            <a:avLst/>
          </a:prstGeom>
          <a:noFill/>
          <a:ln/>
        </p:spPr>
        <p:txBody>
          <a:bodyPr wrap="square" lIns="0" tIns="0" rIns="0" bIns="0" rtlCol="0" anchor="t"/>
          <a:lstStyle/>
          <a:p>
            <a:pPr indent="0" marL="0">
              <a:buNone/>
            </a:pPr>
            <a:r>
              <a:rPr lang="en-US" sz="1300" dirty="0">
                <a:solidFill>
                  <a:schemeClr val="tx2"/>
                </a:solidFill>
              </a:rPr>
              <a:t>Same as Q2, even though we signed 100 more. Churn rose 55%.</a:t>
            </a:r>
            <a:endParaRPr lang="en-US" sz="1300" dirty="0"/>
          </a:p>
        </p:txBody>
      </p:sp>
      <p:sp>
        <p:nvSpPr>
          <p:cNvPr id="11" name="stat-card-3"/>
          <p:cNvSpPr/>
          <p:nvPr/>
        </p:nvSpPr>
        <p:spPr>
          <a:xfrm>
            <a:off x="6126480" y="1234440"/>
            <a:ext cx="2560320" cy="2743200"/>
          </a:xfrm>
          <a:prstGeom prst="roundRect">
            <a:avLst>
              <a:gd name="adj" fmla="val 2857"/>
            </a:avLst>
          </a:prstGeom>
          <a:solidFill>
            <a:schemeClr val="bg2"/>
          </a:solidFill>
          <a:ln/>
        </p:spPr>
      </p:sp>
      <p:sp>
        <p:nvSpPr>
          <p:cNvPr id="12" name="Text 10"/>
          <p:cNvSpPr txBox="1"/>
          <p:nvPr/>
        </p:nvSpPr>
        <p:spPr>
          <a:xfrm>
            <a:off x="6355080" y="1463040"/>
            <a:ext cx="210312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13.9h</a:t>
            </a:r>
            <a:endParaRPr lang="en-US" sz="4800" dirty="0"/>
          </a:p>
        </p:txBody>
      </p:sp>
      <p:sp>
        <p:nvSpPr>
          <p:cNvPr id="13" name="Text 11"/>
          <p:cNvSpPr txBox="1"/>
          <p:nvPr/>
        </p:nvSpPr>
        <p:spPr>
          <a:xfrm>
            <a:off x="6355080" y="2423160"/>
            <a:ext cx="2103120" cy="502920"/>
          </a:xfrm>
          <a:prstGeom prst="rect">
            <a:avLst/>
          </a:prstGeom>
          <a:noFill/>
          <a:ln/>
        </p:spPr>
        <p:txBody>
          <a:bodyPr wrap="square" lIns="0" tIns="0" rIns="0" bIns="0" rtlCol="0" anchor="t"/>
          <a:lstStyle/>
          <a:p>
            <a:pPr indent="0" marL="0">
              <a:buNone/>
            </a:pPr>
            <a:r>
              <a:rPr lang="en-US" sz="1500" b="1" dirty="0">
                <a:solidFill>
                  <a:schemeClr val="tx1"/>
                </a:solidFill>
              </a:rPr>
              <a:t>SMB first response, September</a:t>
            </a:r>
            <a:endParaRPr lang="en-US" sz="1500" dirty="0"/>
          </a:p>
        </p:txBody>
      </p:sp>
      <p:sp>
        <p:nvSpPr>
          <p:cNvPr id="14" name="Text 12"/>
          <p:cNvSpPr txBox="1"/>
          <p:nvPr/>
        </p:nvSpPr>
        <p:spPr>
          <a:xfrm>
            <a:off x="6355080" y="2971800"/>
            <a:ext cx="2103120" cy="868680"/>
          </a:xfrm>
          <a:prstGeom prst="rect">
            <a:avLst/>
          </a:prstGeom>
          <a:noFill/>
          <a:ln/>
        </p:spPr>
        <p:txBody>
          <a:bodyPr wrap="square" lIns="0" tIns="0" rIns="0" bIns="0" rtlCol="0" anchor="t"/>
          <a:lstStyle/>
          <a:p>
            <a:pPr indent="0" marL="0">
              <a:buNone/>
            </a:pPr>
            <a:r>
              <a:rPr lang="en-US" sz="1300" dirty="0">
                <a:solidFill>
                  <a:schemeClr val="tx2"/>
                </a:solidFill>
              </a:rPr>
              <a:t>Up from 6.1h in April. SMB NPS fell from 41 to 29.</a:t>
            </a:r>
            <a:endParaRPr lang="en-US" sz="1300" dirty="0"/>
          </a:p>
        </p:txBody>
      </p:sp>
      <p:sp>
        <p:nvSpPr>
          <p:cNvPr id="15" name="Text 13"/>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chemeClr val="tx1"/>
                </a:solidFill>
              </a:rPr>
              <a:t>The ask: get SMB support response time back under 6 hours before Q4 churn compounds (slide 8).</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Enterprise drove nearly three quarters of new MRR</a:t>
            </a:r>
            <a:endParaRPr lang="en-US" sz="2600" dirty="0"/>
          </a:p>
        </p:txBody>
      </p:sp>
      <p:graphicFrame>
        <p:nvGraphicFramePr>
          <p:cNvPr id="3" name="Chart 0" descr=""/>
          <p:cNvGraphicFramePr/>
          <p:nvPr/>
        </p:nvGraphicFramePr>
        <p:xfrm>
          <a:off x="365760" y="1097280"/>
          <a:ext cx="4937760" cy="3474720"/>
        </p:xfrm>
        <a:graphic xmlns:a="http://schemas.openxmlformats.org/drawingml/2006/main">
          <a:graphicData uri="http://schemas.openxmlformats.org/drawingml/2006/chart">
            <c:chart xmlns:c="http://schemas.openxmlformats.org/drawingml/2006/chart" r:id="rId1"/>
          </a:graphicData>
        </a:graphic>
      </p:graphicFrame>
      <p:sp>
        <p:nvSpPr>
          <p:cNvPr id="4" name="commentary-card"/>
          <p:cNvSpPr/>
          <p:nvPr/>
        </p:nvSpPr>
        <p:spPr>
          <a:xfrm>
            <a:off x="5577840" y="1143000"/>
            <a:ext cx="3108960" cy="3383280"/>
          </a:xfrm>
          <a:prstGeom prst="roundRect">
            <a:avLst>
              <a:gd name="adj" fmla="val 2353"/>
            </a:avLst>
          </a:prstGeom>
          <a:solidFill>
            <a:schemeClr val="bg2"/>
          </a:solidFill>
          <a:ln/>
        </p:spPr>
      </p:sp>
      <p:sp>
        <p:nvSpPr>
          <p:cNvPr id="5" name="Text 2"/>
          <p:cNvSpPr txBox="1"/>
          <p:nvPr/>
        </p:nvSpPr>
        <p:spPr>
          <a:xfrm>
            <a:off x="5806440" y="1325880"/>
            <a:ext cx="2651760" cy="3017520"/>
          </a:xfrm>
          <a:prstGeom prst="rect">
            <a:avLst/>
          </a:prstGeom>
          <a:noFill/>
          <a:ln/>
        </p:spPr>
        <p:txBody>
          <a:bodyPr wrap="square" lIns="0" tIns="0" rIns="0" bIns="0" rtlCol="0" anchor="t"/>
          <a:lstStyle/>
          <a:p>
            <a:pPr indent="0" marL="0">
              <a:buNone/>
            </a:pPr>
            <a:r>
              <a:rPr lang="en-US" sz="1400" b="1" dirty="0">
                <a:solidFill>
                  <a:schemeClr val="tx1"/>
                </a:solidFill>
              </a:rPr>
              <a:t>Enterprise +$48.0K (+12.1%)</a:t>
            </a:r>
            <a:endParaRPr lang="en-US" sz="1400" dirty="0"/>
          </a:p>
          <a:p>
            <a:pPr indent="0" marL="0">
              <a:buNone/>
            </a:pPr>
            <a:r>
              <a:rPr lang="en-US" sz="1400" dirty="0">
                <a:solidFill>
                  <a:schemeClr val="tx2"/>
                </a:solidFill>
              </a:rPr>
              <a:t>Now 51% of total MRR</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tx1"/>
                </a:solidFill>
              </a:rPr>
              <a:t>Mid-market +$15.6K (+6.9%)</a:t>
            </a:r>
            <a:endParaRPr lang="en-US" sz="1400" dirty="0"/>
          </a:p>
          <a:p>
            <a:pPr indent="0" marL="0">
              <a:buNone/>
            </a:pPr>
            <a:r>
              <a:rPr lang="en-US" sz="1400" dirty="0">
                <a:solidFill>
                  <a:schemeClr val="tx2"/>
                </a:solidFill>
              </a:rPr>
              <a:t>Steady, in line with Q2</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SMB +$2.3K (+1.2%)</a:t>
            </a:r>
            <a:endParaRPr lang="en-US" sz="1400" dirty="0"/>
          </a:p>
          <a:p>
            <a:pPr indent="0" marL="0">
              <a:buNone/>
            </a:pPr>
            <a:r>
              <a:rPr lang="en-US" sz="1400" dirty="0">
                <a:solidFill>
                  <a:schemeClr val="tx2"/>
                </a:solidFill>
              </a:rPr>
              <a:t>450 net new customers added only $2.3K MRR. We need plan-mix and downgrade data to explain the gap.</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SMB signed 100 more customers than Q2, and net growth didn't move</a:t>
            </a:r>
            <a:endParaRPr lang="en-US" sz="2600" dirty="0"/>
          </a:p>
        </p:txBody>
      </p:sp>
      <p:graphicFrame>
        <p:nvGraphicFramePr>
          <p:cNvPr id="3" name="Chart 0" descr=""/>
          <p:cNvGraphicFramePr/>
          <p:nvPr/>
        </p:nvGraphicFramePr>
        <p:xfrm>
          <a:off x="365760" y="109728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4" name="q2-q3-table-card"/>
          <p:cNvSpPr/>
          <p:nvPr/>
        </p:nvSpPr>
        <p:spPr>
          <a:xfrm>
            <a:off x="5760720" y="1143000"/>
            <a:ext cx="2926080" cy="2240280"/>
          </a:xfrm>
          <a:prstGeom prst="roundRect">
            <a:avLst>
              <a:gd name="adj" fmla="val 3265"/>
            </a:avLst>
          </a:prstGeom>
          <a:solidFill>
            <a:schemeClr val="bg2"/>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0" y="1280160"/>
          <a:ext cx="2560320" cy="914400"/>
        </p:xfrm>
        <a:graphic>
          <a:graphicData uri="http://schemas.openxmlformats.org/drawingml/2006/table">
            <a:tbl>
              <a:tblPr/>
              <a:tblGrid>
                <a:gridCol w="1280160"/>
                <a:gridCol w="548640"/>
                <a:gridCol w="731520"/>
              </a:tblGrid>
              <a:tr h="438912">
                <a:tc>
                  <a:txBody>
                    <a:bodyPr/>
                    <a:lstStyle/>
                    <a:p>
                      <a:pPr indent="0" marL="0">
                        <a:buNone/>
                      </a:pPr>
                      <a:r>
                        <a:rPr lang="en-US" sz="1200" b="1" dirty="0">
                          <a:solidFill>
                            <a:schemeClr val="tx2"/>
                          </a:solidFill>
                        </a:rPr>
                        <a:t>SMB customers</a:t>
                      </a:r>
                      <a:endParaRPr lang="en-US" sz="1200" dirty="0"/>
                    </a:p>
                  </a:txBody>
                  <a:tcPr marL="3657600" marR="365760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2"/>
                          </a:solidFill>
                        </a:rPr>
                        <a:t>Q2</a:t>
                      </a:r>
                      <a:endParaRPr lang="en-US" sz="1200" dirty="0"/>
                    </a:p>
                  </a:txBody>
                  <a:tcPr marL="3657600" marR="365760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200" b="1" dirty="0">
                          <a:solidFill>
                            <a:schemeClr val="tx2"/>
                          </a:solidFill>
                        </a:rPr>
                        <a:t>Q3</a:t>
                      </a:r>
                      <a:endParaRPr lang="en-US" sz="1200" dirty="0"/>
                    </a:p>
                  </a:txBody>
                  <a:tcPr marL="3657600" marR="3657600" marT="0" marB="0" anchor="ctr">
                    <a:lnL w="0" cap="flat" cmpd="sng" algn="ctr">
                      <a:noFill/>
                    </a:lnL>
                    <a:lnR w="0" cap="flat" cmpd="sng" algn="ctr">
                      <a:noFill/>
                    </a:lnR>
                    <a:lnT w="0" cap="flat" cmpd="sng" algn="ctr">
                      <a:noFill/>
                    </a:lnT>
                    <a:lnB w="0" cap="flat" cmpd="sng" algn="ctr">
                      <a:noFill/>
                    </a:lnB>
                  </a:tcPr>
                </a:tc>
              </a:tr>
              <a:tr h="438912">
                <a:tc>
                  <a:txBody>
                    <a:bodyPr/>
                    <a:lstStyle/>
                    <a:p>
                      <a:pPr indent="0" marL="0">
                        <a:buNone/>
                      </a:pPr>
                      <a:r>
                        <a:rPr lang="en-US" sz="1400" dirty="0">
                          <a:solidFill>
                            <a:schemeClr val="tx1"/>
                          </a:solidFill>
                        </a:rPr>
                        <a:t>New</a:t>
                      </a:r>
                      <a:endParaRPr lang="en-US" sz="1400" dirty="0"/>
                    </a:p>
                  </a:txBody>
                  <a:tcPr marL="3657600" marR="365760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chemeClr val="tx1"/>
                          </a:solidFill>
                        </a:rPr>
                        <a:t>633</a:t>
                      </a:r>
                      <a:endParaRPr lang="en-US" sz="1400" dirty="0"/>
                    </a:p>
                  </a:txBody>
                  <a:tcPr marL="3657600" marR="365760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chemeClr val="tx1"/>
                          </a:solidFill>
                        </a:rPr>
                        <a:t>733</a:t>
                      </a:r>
                      <a:endParaRPr lang="en-US" sz="1400" dirty="0"/>
                    </a:p>
                  </a:txBody>
                  <a:tcPr marL="3657600" marR="3657600" marT="0" marB="0" anchor="ctr">
                    <a:lnL w="0" cap="flat" cmpd="sng" algn="ctr">
                      <a:noFill/>
                    </a:lnL>
                    <a:lnR w="0" cap="flat" cmpd="sng" algn="ctr">
                      <a:noFill/>
                    </a:lnR>
                    <a:lnT w="0" cap="flat" cmpd="sng" algn="ctr">
                      <a:noFill/>
                    </a:lnT>
                    <a:lnB w="0" cap="flat" cmpd="sng" algn="ctr">
                      <a:noFill/>
                    </a:lnB>
                  </a:tcPr>
                </a:tc>
              </a:tr>
              <a:tr h="438912">
                <a:tc>
                  <a:txBody>
                    <a:bodyPr/>
                    <a:lstStyle/>
                    <a:p>
                      <a:pPr indent="0" marL="0">
                        <a:buNone/>
                      </a:pPr>
                      <a:r>
                        <a:rPr lang="en-US" sz="1400" dirty="0">
                          <a:solidFill>
                            <a:schemeClr val="tx1"/>
                          </a:solidFill>
                        </a:rPr>
                        <a:t>Churned</a:t>
                      </a:r>
                      <a:endParaRPr lang="en-US" sz="1400" dirty="0"/>
                    </a:p>
                  </a:txBody>
                  <a:tcPr marL="3657600" marR="365760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dirty="0">
                          <a:solidFill>
                            <a:schemeClr val="tx1"/>
                          </a:solidFill>
                        </a:rPr>
                        <a:t>183</a:t>
                      </a:r>
                      <a:endParaRPr lang="en-US" sz="1400" dirty="0"/>
                    </a:p>
                  </a:txBody>
                  <a:tcPr marL="3657600" marR="365760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b="1" dirty="0">
                          <a:solidFill>
                            <a:schemeClr val="accent1"/>
                          </a:solidFill>
                        </a:rPr>
                        <a:t>283</a:t>
                      </a:r>
                      <a:endParaRPr lang="en-US" sz="1400" dirty="0"/>
                    </a:p>
                  </a:txBody>
                  <a:tcPr marL="3657600" marR="3657600" marT="0" marB="0" anchor="ctr">
                    <a:lnL w="0" cap="flat" cmpd="sng" algn="ctr">
                      <a:noFill/>
                    </a:lnL>
                    <a:lnR w="0" cap="flat" cmpd="sng" algn="ctr">
                      <a:noFill/>
                    </a:lnR>
                    <a:lnT w="0" cap="flat" cmpd="sng" algn="ctr">
                      <a:noFill/>
                    </a:lnT>
                    <a:lnB w="0" cap="flat" cmpd="sng" algn="ctr">
                      <a:noFill/>
                    </a:lnB>
                  </a:tcPr>
                </a:tc>
              </a:tr>
              <a:tr h="438912">
                <a:tc>
                  <a:txBody>
                    <a:bodyPr/>
                    <a:lstStyle/>
                    <a:p>
                      <a:pPr indent="0" marL="0">
                        <a:buNone/>
                      </a:pPr>
                      <a:r>
                        <a:rPr lang="en-US" sz="1400" b="1" dirty="0">
                          <a:solidFill>
                            <a:schemeClr val="tx1"/>
                          </a:solidFill>
                        </a:rPr>
                        <a:t>Net added</a:t>
                      </a:r>
                      <a:endParaRPr lang="en-US" sz="1400" dirty="0"/>
                    </a:p>
                  </a:txBody>
                  <a:tcPr marL="3657600" marR="365760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b="1" dirty="0">
                          <a:solidFill>
                            <a:schemeClr val="tx1"/>
                          </a:solidFill>
                        </a:rPr>
                        <a:t>450</a:t>
                      </a:r>
                      <a:endParaRPr lang="en-US" sz="1400" dirty="0"/>
                    </a:p>
                  </a:txBody>
                  <a:tcPr marL="3657600" marR="365760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400" b="1" dirty="0">
                          <a:solidFill>
                            <a:schemeClr val="tx1"/>
                          </a:solidFill>
                        </a:rPr>
                        <a:t>450</a:t>
                      </a:r>
                      <a:endParaRPr lang="en-US" sz="1400" dirty="0"/>
                    </a:p>
                  </a:txBody>
                  <a:tcPr marL="3657600" marR="365760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6" name="Text 2"/>
          <p:cNvSpPr txBox="1"/>
          <p:nvPr/>
        </p:nvSpPr>
        <p:spPr>
          <a:xfrm>
            <a:off x="5760720" y="3611880"/>
            <a:ext cx="2926080" cy="914400"/>
          </a:xfrm>
          <a:prstGeom prst="rect">
            <a:avLst/>
          </a:prstGeom>
          <a:noFill/>
          <a:ln/>
        </p:spPr>
        <p:txBody>
          <a:bodyPr wrap="square" lIns="0" tIns="0" rIns="0" bIns="0" rtlCol="0" anchor="t"/>
          <a:lstStyle/>
          <a:p>
            <a:pPr indent="0" marL="0">
              <a:buNone/>
            </a:pPr>
            <a:r>
              <a:rPr lang="en-US" sz="1400" b="1" dirty="0">
                <a:solidFill>
                  <a:schemeClr val="tx1"/>
                </a:solidFill>
              </a:rPr>
              <a:t>For every 10 SMB customers we signed in September, we lost 4.</a:t>
            </a:r>
            <a:endParaRPr lang="en-US" sz="1400" dirty="0"/>
          </a:p>
          <a:p>
            <a:pPr indent="0" marL="0">
              <a:buNone/>
            </a:pPr>
            <a:r>
              <a:rPr lang="en-US" sz="1400" dirty="0">
                <a:solidFill>
                  <a:schemeClr val="tx2"/>
                </a:solidFill>
              </a:rPr>
              <a:t>In April it was about 2.</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SMB customers now wait more than twice as long for a first response</a:t>
            </a:r>
            <a:endParaRPr lang="en-US" sz="2600" dirty="0"/>
          </a:p>
        </p:txBody>
      </p:sp>
      <p:graphicFrame>
        <p:nvGraphicFramePr>
          <p:cNvPr id="3" name="Chart 0" descr=""/>
          <p:cNvGraphicFramePr/>
          <p:nvPr/>
        </p:nvGraphicFramePr>
        <p:xfrm>
          <a:off x="365760" y="1097280"/>
          <a:ext cx="5303520" cy="3520440"/>
        </p:xfrm>
        <a:graphic xmlns:a="http://schemas.openxmlformats.org/drawingml/2006/main">
          <a:graphicData uri="http://schemas.openxmlformats.org/drawingml/2006/chart">
            <c:chart xmlns:c="http://schemas.openxmlformats.org/drawingml/2006/chart" r:id="rId1"/>
          </a:graphicData>
        </a:graphic>
      </p:graphicFrame>
      <p:sp>
        <p:nvSpPr>
          <p:cNvPr id="4" name="support-stat-1"/>
          <p:cNvSpPr/>
          <p:nvPr/>
        </p:nvSpPr>
        <p:spPr>
          <a:xfrm>
            <a:off x="5943600" y="1143000"/>
            <a:ext cx="2743200" cy="960120"/>
          </a:xfrm>
          <a:prstGeom prst="roundRect">
            <a:avLst>
              <a:gd name="adj" fmla="val 7619"/>
            </a:avLst>
          </a:prstGeom>
          <a:solidFill>
            <a:schemeClr val="bg2"/>
          </a:solidFill>
          <a:ln/>
        </p:spPr>
      </p:sp>
      <p:sp>
        <p:nvSpPr>
          <p:cNvPr id="5" name="Text 2"/>
          <p:cNvSpPr txBox="1"/>
          <p:nvPr/>
        </p:nvSpPr>
        <p:spPr>
          <a:xfrm>
            <a:off x="6126480" y="1234440"/>
            <a:ext cx="1005840" cy="7772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2.3×</a:t>
            </a:r>
            <a:endParaRPr lang="en-US" sz="2600" dirty="0"/>
          </a:p>
        </p:txBody>
      </p:sp>
      <p:sp>
        <p:nvSpPr>
          <p:cNvPr id="6" name="Text 3"/>
          <p:cNvSpPr txBox="1"/>
          <p:nvPr/>
        </p:nvSpPr>
        <p:spPr>
          <a:xfrm>
            <a:off x="7178040" y="1234440"/>
            <a:ext cx="1371600" cy="777240"/>
          </a:xfrm>
          <a:prstGeom prst="rect">
            <a:avLst/>
          </a:prstGeom>
          <a:noFill/>
          <a:ln/>
        </p:spPr>
        <p:txBody>
          <a:bodyPr wrap="square" lIns="0" tIns="0" rIns="0" bIns="0" rtlCol="0" anchor="ctr"/>
          <a:lstStyle/>
          <a:p>
            <a:pPr indent="0" marL="0">
              <a:buNone/>
            </a:pPr>
            <a:r>
              <a:rPr lang="en-US" sz="1200" dirty="0">
                <a:solidFill>
                  <a:schemeClr val="tx1"/>
                </a:solidFill>
              </a:rPr>
              <a:t>SMB first response, Apr → Sep (6.1h → 13.9h)</a:t>
            </a:r>
            <a:endParaRPr lang="en-US" sz="1200" dirty="0"/>
          </a:p>
        </p:txBody>
      </p:sp>
      <p:sp>
        <p:nvSpPr>
          <p:cNvPr id="7" name="support-stat-2"/>
          <p:cNvSpPr/>
          <p:nvPr/>
        </p:nvSpPr>
        <p:spPr>
          <a:xfrm>
            <a:off x="5943600" y="2286000"/>
            <a:ext cx="2743200" cy="960120"/>
          </a:xfrm>
          <a:prstGeom prst="roundRect">
            <a:avLst>
              <a:gd name="adj" fmla="val 7619"/>
            </a:avLst>
          </a:prstGeom>
          <a:solidFill>
            <a:schemeClr val="bg2"/>
          </a:solidFill>
          <a:ln/>
        </p:spPr>
      </p:sp>
      <p:sp>
        <p:nvSpPr>
          <p:cNvPr id="8" name="Text 5"/>
          <p:cNvSpPr txBox="1"/>
          <p:nvPr/>
        </p:nvSpPr>
        <p:spPr>
          <a:xfrm>
            <a:off x="6126480" y="2377440"/>
            <a:ext cx="1005840" cy="7772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+66%</a:t>
            </a:r>
            <a:endParaRPr lang="en-US" sz="2600" dirty="0"/>
          </a:p>
        </p:txBody>
      </p:sp>
      <p:sp>
        <p:nvSpPr>
          <p:cNvPr id="9" name="Text 6"/>
          <p:cNvSpPr txBox="1"/>
          <p:nvPr/>
        </p:nvSpPr>
        <p:spPr>
          <a:xfrm>
            <a:off x="7178040" y="2377440"/>
            <a:ext cx="1371600" cy="777240"/>
          </a:xfrm>
          <a:prstGeom prst="rect">
            <a:avLst/>
          </a:prstGeom>
          <a:noFill/>
          <a:ln/>
        </p:spPr>
        <p:txBody>
          <a:bodyPr wrap="square" lIns="0" tIns="0" rIns="0" bIns="0" rtlCol="0" anchor="ctr"/>
          <a:lstStyle/>
          <a:p>
            <a:pPr indent="0" marL="0">
              <a:buNone/>
            </a:pPr>
            <a:r>
              <a:rPr lang="en-US" sz="1200" dirty="0">
                <a:solidFill>
                  <a:schemeClr val="tx1"/>
                </a:solidFill>
              </a:rPr>
              <a:t>SMB monthly support tickets (920 → 1,530)</a:t>
            </a:r>
            <a:endParaRPr lang="en-US" sz="1200" dirty="0"/>
          </a:p>
        </p:txBody>
      </p:sp>
      <p:sp>
        <p:nvSpPr>
          <p:cNvPr id="10" name="support-stat-3"/>
          <p:cNvSpPr/>
          <p:nvPr/>
        </p:nvSpPr>
        <p:spPr>
          <a:xfrm>
            <a:off x="5943600" y="3429000"/>
            <a:ext cx="2743200" cy="960120"/>
          </a:xfrm>
          <a:prstGeom prst="roundRect">
            <a:avLst>
              <a:gd name="adj" fmla="val 7619"/>
            </a:avLst>
          </a:prstGeom>
          <a:solidFill>
            <a:schemeClr val="bg2"/>
          </a:solidFill>
          <a:ln/>
        </p:spPr>
      </p:sp>
      <p:sp>
        <p:nvSpPr>
          <p:cNvPr id="11" name="Text 8"/>
          <p:cNvSpPr txBox="1"/>
          <p:nvPr/>
        </p:nvSpPr>
        <p:spPr>
          <a:xfrm>
            <a:off x="6126480" y="3520440"/>
            <a:ext cx="1005840" cy="7772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−12</a:t>
            </a:r>
            <a:endParaRPr lang="en-US" sz="2600" dirty="0"/>
          </a:p>
        </p:txBody>
      </p:sp>
      <p:sp>
        <p:nvSpPr>
          <p:cNvPr id="12" name="Text 9"/>
          <p:cNvSpPr txBox="1"/>
          <p:nvPr/>
        </p:nvSpPr>
        <p:spPr>
          <a:xfrm>
            <a:off x="7178040" y="3520440"/>
            <a:ext cx="1371600" cy="777240"/>
          </a:xfrm>
          <a:prstGeom prst="rect">
            <a:avLst/>
          </a:prstGeom>
          <a:noFill/>
          <a:ln/>
        </p:spPr>
        <p:txBody>
          <a:bodyPr wrap="square" lIns="0" tIns="0" rIns="0" bIns="0" rtlCol="0" anchor="ctr"/>
          <a:lstStyle/>
          <a:p>
            <a:pPr indent="0" marL="0">
              <a:buNone/>
            </a:pPr>
            <a:r>
              <a:rPr lang="en-US" sz="1200" dirty="0">
                <a:solidFill>
                  <a:schemeClr val="tx1"/>
                </a:solidFill>
              </a:rPr>
              <a:t>SMB NPS points (41 → 29)</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SMB churn has risen in step with response time every month</a:t>
            </a:r>
            <a:endParaRPr lang="en-US" sz="2600" dirty="0"/>
          </a:p>
        </p:txBody>
      </p:sp>
      <p:graphicFrame>
        <p:nvGraphicFramePr>
          <p:cNvPr id="3" name="Chart 0" descr=""/>
          <p:cNvGraphicFramePr/>
          <p:nvPr/>
        </p:nvGraphicFramePr>
        <p:xfrm>
          <a:off x="365760" y="109728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4" name="caveat-card"/>
          <p:cNvSpPr/>
          <p:nvPr/>
        </p:nvSpPr>
        <p:spPr>
          <a:xfrm>
            <a:off x="5760720" y="1143000"/>
            <a:ext cx="2926080" cy="3383280"/>
          </a:xfrm>
          <a:prstGeom prst="roundRect">
            <a:avLst>
              <a:gd name="adj" fmla="val 2500"/>
            </a:avLst>
          </a:prstGeom>
          <a:solidFill>
            <a:schemeClr val="bg2"/>
          </a:solidFill>
          <a:ln/>
        </p:spPr>
      </p:sp>
      <p:sp>
        <p:nvSpPr>
          <p:cNvPr id="5" name="Text 2"/>
          <p:cNvSpPr txBox="1"/>
          <p:nvPr/>
        </p:nvSpPr>
        <p:spPr>
          <a:xfrm>
            <a:off x="5989320" y="1325880"/>
            <a:ext cx="2468880" cy="3017520"/>
          </a:xfrm>
          <a:prstGeom prst="rect">
            <a:avLst/>
          </a:prstGeom>
          <a:noFill/>
          <a:ln/>
        </p:spPr>
        <p:txBody>
          <a:bodyPr wrap="square" lIns="0" tIns="0" rIns="0" bIns="0" rtlCol="0" anchor="t"/>
          <a:lstStyle/>
          <a:p>
            <a:pPr indent="0" marL="0">
              <a:buNone/>
            </a:pPr>
            <a:r>
              <a:rPr lang="en-US" sz="1500" b="1" dirty="0">
                <a:solidFill>
                  <a:schemeClr val="tx1"/>
                </a:solidFill>
              </a:rPr>
              <a:t>Strong link</a:t>
            </a:r>
            <a:endParaRPr lang="en-US" sz="1300" dirty="0"/>
          </a:p>
          <a:p>
            <a:pPr indent="0" marL="0">
              <a:buNone/>
            </a:pPr>
            <a:r>
              <a:rPr lang="en-US" sz="1300" dirty="0">
                <a:solidFill>
                  <a:schemeClr val="tx1"/>
                </a:solidFill>
              </a:rPr>
              <a:t>Months with slower support had more churn (correlation 0.99).</a:t>
            </a:r>
            <a:endParaRPr lang="en-US" sz="1300" dirty="0"/>
          </a:p>
          <a:p>
            <a:pPr indent="0" marL="0">
              <a:buNone/>
            </a:pPr>
            <a:r>
              <a:rPr lang="en-US" sz="800" dirty="0">
                <a:solidFill>
                  <a:schemeClr val="tx1"/>
                </a:solidFill>
              </a:rPr>
              <a:t> </a:t>
            </a:r>
            <a:endParaRPr lang="en-US" sz="1300" dirty="0"/>
          </a:p>
          <a:p>
            <a:pPr indent="0" marL="0">
              <a:buNone/>
            </a:pPr>
            <a:r>
              <a:rPr lang="en-US" sz="1500" b="1" dirty="0">
                <a:solidFill>
                  <a:schemeClr val="tx1"/>
                </a:solidFill>
              </a:rPr>
              <a:t>Not yet proof</a:t>
            </a:r>
            <a:endParaRPr lang="en-US" sz="1300" dirty="0"/>
          </a:p>
          <a:p>
            <a:pPr indent="0" marL="0">
              <a:buNone/>
            </a:pPr>
            <a:r>
              <a:rPr lang="en-US" sz="1300" dirty="0">
                <a:solidFill>
                  <a:schemeClr val="tx2"/>
                </a:solidFill>
              </a:rPr>
              <a:t>Six data points, and both numbers grew over time. Something else could be driving both.</a:t>
            </a:r>
            <a:endParaRPr lang="en-US" sz="1300" dirty="0"/>
          </a:p>
          <a:p>
            <a:pPr indent="0" marL="0">
              <a:buNone/>
            </a:pPr>
            <a:r>
              <a:rPr lang="en-US" sz="800" dirty="0">
                <a:solidFill>
                  <a:schemeClr val="tx1"/>
                </a:solidFill>
              </a:rPr>
              <a:t> </a:t>
            </a:r>
            <a:endParaRPr lang="en-US" sz="1300" dirty="0"/>
          </a:p>
          <a:p>
            <a:pPr indent="0" marL="0">
              <a:buNone/>
            </a:pPr>
            <a:r>
              <a:rPr lang="en-US" sz="1500" b="1" dirty="0">
                <a:solidFill>
                  <a:schemeClr val="tx1"/>
                </a:solidFill>
              </a:rPr>
              <a:t>To confirm</a:t>
            </a:r>
            <a:endParaRPr lang="en-US" sz="1300" dirty="0"/>
          </a:p>
          <a:p>
            <a:pPr indent="0" marL="0">
              <a:buNone/>
            </a:pPr>
            <a:r>
              <a:rPr lang="en-US" sz="1300" dirty="0">
                <a:solidFill>
                  <a:schemeClr val="tx2"/>
                </a:solidFill>
              </a:rPr>
              <a:t>Check churned accounts' last-90-day ticket history and exit reasons.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Mid-market and enterprise are healthy; the problem is SMB</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371600"/>
                <a:gridCol w="1188720"/>
                <a:gridCol w="1188720"/>
                <a:gridCol w="1645920"/>
                <a:gridCol w="1463040"/>
                <a:gridCol w="1371600"/>
              </a:tblGrid>
              <a:tr h="548640">
                <a:tc>
                  <a:txBody>
                    <a:bodyPr/>
                    <a:lstStyle/>
                    <a:p>
                      <a:pPr algn="l" indent="0" marL="0">
                        <a:buNone/>
                      </a:pPr>
                      <a:r>
                        <a:rPr lang="en-US" sz="1400" b="1" dirty="0">
                          <a:solidFill>
                            <a:schemeClr val="bg1"/>
                          </a:solidFill>
                        </a:rPr>
                        <a:t>Segment</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Sep MRR</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MRR QoQ</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Churned, Q2 → Q3</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NPS, Apr → Sep</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1st response, Sep</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tx1"/>
                    </a:solidFill>
                  </a:tcPr>
                </a:tc>
              </a:tr>
              <a:tr h="548640">
                <a:tc>
                  <a:txBody>
                    <a:bodyPr/>
                    <a:lstStyle/>
                    <a:p>
                      <a:pPr indent="0" marL="0">
                        <a:buNone/>
                      </a:pPr>
                      <a:r>
                        <a:rPr lang="en-US" sz="1400" b="1" dirty="0">
                          <a:solidFill>
                            <a:schemeClr val="tx1"/>
                          </a:solidFill>
                        </a:rPr>
                        <a:t>Enterprise</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rPr>
                        <a:t>$446.0K</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rPr>
                        <a:t>+12.1%</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rPr>
                        <a:t>1 → 1</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rPr>
                        <a:t>52 → 51</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rPr>
                        <a:t>2.3h</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548640">
                <a:tc>
                  <a:txBody>
                    <a:bodyPr/>
                    <a:lstStyle/>
                    <a:p>
                      <a:pPr indent="0" marL="0">
                        <a:buNone/>
                      </a:pPr>
                      <a:r>
                        <a:rPr lang="en-US" sz="1400" b="1" dirty="0">
                          <a:solidFill>
                            <a:schemeClr val="tx1"/>
                          </a:solidFill>
                        </a:rPr>
                        <a:t>Mid-market</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rPr>
                        <a:t>$240.1K</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rPr>
                        <a:t>+6.9%</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rPr>
                        <a:t>13 → 18</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rPr>
                        <a:t>47 → 44</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algn="r" indent="0" marL="0">
                        <a:buNone/>
                      </a:pPr>
                      <a:r>
                        <a:rPr lang="en-US" sz="1400" dirty="0">
                          <a:solidFill>
                            <a:schemeClr val="tx1"/>
                          </a:solidFill>
                        </a:rPr>
                        <a:t>5.1h</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548640">
                <a:tc>
                  <a:txBody>
                    <a:bodyPr/>
                    <a:lstStyle/>
                    <a:p>
                      <a:pPr indent="0" marL="0">
                        <a:buNone/>
                      </a:pPr>
                      <a:r>
                        <a:rPr lang="en-US" sz="1400" b="1" dirty="0">
                          <a:solidFill>
                            <a:schemeClr val="tx1"/>
                          </a:solidFill>
                        </a:rPr>
                        <a:t>SMB</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$192.4K</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accent1"/>
                          </a:solidFill>
                        </a:rPr>
                        <a:t>+1.2%</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accent1"/>
                          </a:solidFill>
                        </a:rPr>
                        <a:t>183 → 283</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accent1"/>
                          </a:solidFill>
                        </a:rPr>
                        <a:t>41 → 29</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accent1"/>
                          </a:solidFill>
                        </a:rPr>
                        <a:t>13.9h</a:t>
                      </a:r>
                      <a:endParaRPr lang="en-US" sz="1400" dirty="0"/>
                    </a:p>
                  </a:txBody>
                  <a:tcPr marL="7315200" marR="7315200" marT="0" marB="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457200" y="3703320"/>
            <a:ext cx="8229600" cy="548640"/>
          </a:xfrm>
          <a:prstGeom prst="rect">
            <a:avLst/>
          </a:prstGeom>
          <a:noFill/>
          <a:ln/>
        </p:spPr>
        <p:txBody>
          <a:bodyPr wrap="square" lIns="0" tIns="0" rIns="0" bIns="0" rtlCol="0" anchor="t"/>
          <a:lstStyle/>
          <a:p>
            <a:pPr indent="0" marL="0">
              <a:buNone/>
            </a:pPr>
            <a:r>
              <a:rPr lang="en-US" sz="1400" dirty="0">
                <a:solidFill>
                  <a:schemeClr val="tx2"/>
                </a:solidFill>
              </a:rPr>
              <a:t>Mid-market churn ticked up (13 → 18), but its NPS and response time are stable. Worth watching, not acting on yet.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What we're asking for</a:t>
            </a:r>
            <a:endParaRPr lang="en-US" sz="2600" dirty="0"/>
          </a:p>
        </p:txBody>
      </p:sp>
      <p:sp>
        <p:nvSpPr>
          <p:cNvPr id="3" name="ask-number-1"/>
          <p:cNvSpPr/>
          <p:nvPr/>
        </p:nvSpPr>
        <p:spPr>
          <a:xfrm>
            <a:off x="457200" y="1234440"/>
            <a:ext cx="548640" cy="548640"/>
          </a:xfrm>
          <a:prstGeom prst="ellipse">
            <a:avLst/>
          </a:prstGeom>
          <a:solidFill>
            <a:schemeClr val="accent1"/>
          </a:solidFill>
          <a:ln/>
        </p:spPr>
      </p:sp>
      <p:sp>
        <p:nvSpPr>
          <p:cNvPr id="4" name="Text 2"/>
          <p:cNvSpPr txBox="1"/>
          <p:nvPr/>
        </p:nvSpPr>
        <p:spPr>
          <a:xfrm>
            <a:off x="457200" y="12344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234440" y="1161288"/>
            <a:ext cx="7452360" cy="365760"/>
          </a:xfrm>
          <a:prstGeom prst="rect">
            <a:avLst/>
          </a:prstGeom>
          <a:noFill/>
          <a:ln/>
        </p:spPr>
        <p:txBody>
          <a:bodyPr wrap="square" lIns="0" tIns="0" rIns="0" bIns="0" rtlCol="0" anchor="t"/>
          <a:lstStyle/>
          <a:p>
            <a:pPr indent="0" marL="0">
              <a:buNone/>
            </a:pPr>
            <a:r>
              <a:rPr lang="en-US" sz="1700" b="1" dirty="0">
                <a:solidFill>
                  <a:schemeClr val="tx1"/>
                </a:solidFill>
              </a:rPr>
              <a:t>Get SMB first response back under 6 hours</a:t>
            </a:r>
            <a:endParaRPr lang="en-US" sz="1700" dirty="0"/>
          </a:p>
        </p:txBody>
      </p:sp>
      <p:sp>
        <p:nvSpPr>
          <p:cNvPr id="6" name="Text 4"/>
          <p:cNvSpPr txBox="1"/>
          <p:nvPr/>
        </p:nvSpPr>
        <p:spPr>
          <a:xfrm>
            <a:off x="1234440" y="1545336"/>
            <a:ext cx="7452360" cy="594360"/>
          </a:xfrm>
          <a:prstGeom prst="rect">
            <a:avLst/>
          </a:prstGeom>
          <a:noFill/>
          <a:ln/>
        </p:spPr>
        <p:txBody>
          <a:bodyPr wrap="square" lIns="0" tIns="0" rIns="0" bIns="0" rtlCol="0" anchor="t"/>
          <a:lstStyle/>
          <a:p>
            <a:pPr indent="0" marL="0">
              <a:buNone/>
            </a:pPr>
            <a:r>
              <a:rPr lang="en-US" sz="1400" dirty="0">
                <a:solidFill>
                  <a:schemeClr val="tx2"/>
                </a:solidFill>
              </a:rPr>
              <a:t>Our April level. Options: add SMB support headcount, or triage SMB tickets to self-serve and chat. Decision needed in this QBR.</a:t>
            </a:r>
            <a:endParaRPr lang="en-US" sz="1400" dirty="0"/>
          </a:p>
        </p:txBody>
      </p:sp>
      <p:sp>
        <p:nvSpPr>
          <p:cNvPr id="7" name="ask-number-2"/>
          <p:cNvSpPr/>
          <p:nvPr/>
        </p:nvSpPr>
        <p:spPr>
          <a:xfrm>
            <a:off x="457200" y="2377440"/>
            <a:ext cx="548640" cy="548640"/>
          </a:xfrm>
          <a:prstGeom prst="ellipse">
            <a:avLst/>
          </a:prstGeom>
          <a:solidFill>
            <a:schemeClr val="tx1"/>
          </a:solidFill>
          <a:ln/>
        </p:spPr>
      </p:sp>
      <p:sp>
        <p:nvSpPr>
          <p:cNvPr id="8" name="Text 6"/>
          <p:cNvSpPr txBox="1"/>
          <p:nvPr/>
        </p:nvSpPr>
        <p:spPr>
          <a:xfrm>
            <a:off x="457200" y="23774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1234440" y="2304288"/>
            <a:ext cx="7452360" cy="365760"/>
          </a:xfrm>
          <a:prstGeom prst="rect">
            <a:avLst/>
          </a:prstGeom>
          <a:noFill/>
          <a:ln/>
        </p:spPr>
        <p:txBody>
          <a:bodyPr wrap="square" lIns="0" tIns="0" rIns="0" bIns="0" rtlCol="0" anchor="t"/>
          <a:lstStyle/>
          <a:p>
            <a:pPr indent="0" marL="0">
              <a:buNone/>
            </a:pPr>
            <a:r>
              <a:rPr lang="en-US" sz="1700" b="1" dirty="0">
                <a:solidFill>
                  <a:schemeClr val="tx1"/>
                </a:solidFill>
              </a:rPr>
              <a:t>Confirm the cause by Oct 31</a:t>
            </a:r>
            <a:endParaRPr lang="en-US" sz="1700" dirty="0"/>
          </a:p>
        </p:txBody>
      </p:sp>
      <p:sp>
        <p:nvSpPr>
          <p:cNvPr id="10" name="Text 8"/>
          <p:cNvSpPr txBox="1"/>
          <p:nvPr/>
        </p:nvSpPr>
        <p:spPr>
          <a:xfrm>
            <a:off x="1234440" y="2688336"/>
            <a:ext cx="7452360" cy="594360"/>
          </a:xfrm>
          <a:prstGeom prst="rect">
            <a:avLst/>
          </a:prstGeom>
          <a:noFill/>
          <a:ln/>
        </p:spPr>
        <p:txBody>
          <a:bodyPr wrap="square" lIns="0" tIns="0" rIns="0" bIns="0" rtlCol="0" anchor="t"/>
          <a:lstStyle/>
          <a:p>
            <a:pPr indent="0" marL="0">
              <a:buNone/>
            </a:pPr>
            <a:r>
              <a:rPr lang="en-US" sz="1400" dirty="0">
                <a:solidFill>
                  <a:schemeClr val="tx2"/>
                </a:solidFill>
              </a:rPr>
              <a:t>Pull ticket history and exit reasons for Q3's 283 churned SMB accounts. Also explain why 450 net adds brought only $2.3K MRR.</a:t>
            </a:r>
            <a:endParaRPr lang="en-US" sz="1400" dirty="0"/>
          </a:p>
        </p:txBody>
      </p:sp>
      <p:sp>
        <p:nvSpPr>
          <p:cNvPr id="11" name="ask-number-3"/>
          <p:cNvSpPr/>
          <p:nvPr/>
        </p:nvSpPr>
        <p:spPr>
          <a:xfrm>
            <a:off x="457200" y="3520440"/>
            <a:ext cx="548640" cy="548640"/>
          </a:xfrm>
          <a:prstGeom prst="ellipse">
            <a:avLst/>
          </a:prstGeom>
          <a:solidFill>
            <a:schemeClr val="tx1"/>
          </a:solidFill>
          <a:ln/>
        </p:spPr>
      </p:sp>
      <p:sp>
        <p:nvSpPr>
          <p:cNvPr id="12" name="Text 10"/>
          <p:cNvSpPr txBox="1"/>
          <p:nvPr/>
        </p:nvSpPr>
        <p:spPr>
          <a:xfrm>
            <a:off x="457200" y="35204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3" name="Text 11"/>
          <p:cNvSpPr txBox="1"/>
          <p:nvPr/>
        </p:nvSpPr>
        <p:spPr>
          <a:xfrm>
            <a:off x="1234440" y="3447288"/>
            <a:ext cx="7452360" cy="365760"/>
          </a:xfrm>
          <a:prstGeom prst="rect">
            <a:avLst/>
          </a:prstGeom>
          <a:noFill/>
          <a:ln/>
        </p:spPr>
        <p:txBody>
          <a:bodyPr wrap="square" lIns="0" tIns="0" rIns="0" bIns="0" rtlCol="0" anchor="t"/>
          <a:lstStyle/>
          <a:p>
            <a:pPr indent="0" marL="0">
              <a:buNone/>
            </a:pPr>
            <a:r>
              <a:rPr lang="en-US" sz="1700" b="1" dirty="0">
                <a:solidFill>
                  <a:schemeClr val="tx1"/>
                </a:solidFill>
              </a:rPr>
              <a:t>Report SMB on net adds and net MRR</a:t>
            </a:r>
            <a:endParaRPr lang="en-US" sz="1700" dirty="0"/>
          </a:p>
        </p:txBody>
      </p:sp>
      <p:sp>
        <p:nvSpPr>
          <p:cNvPr id="14" name="Text 12"/>
          <p:cNvSpPr txBox="1"/>
          <p:nvPr/>
        </p:nvSpPr>
        <p:spPr>
          <a:xfrm>
            <a:off x="1234440" y="3831336"/>
            <a:ext cx="7452360" cy="594360"/>
          </a:xfrm>
          <a:prstGeom prst="rect">
            <a:avLst/>
          </a:prstGeom>
          <a:noFill/>
          <a:ln/>
        </p:spPr>
        <p:txBody>
          <a:bodyPr wrap="square" lIns="0" tIns="0" rIns="0" bIns="0" rtlCol="0" anchor="t"/>
          <a:lstStyle/>
          <a:p>
            <a:pPr indent="0" marL="0">
              <a:buNone/>
            </a:pPr>
            <a:r>
              <a:rPr lang="en-US" sz="1400" dirty="0">
                <a:solidFill>
                  <a:schemeClr val="tx2"/>
                </a:solidFill>
              </a:rPr>
              <a:t>Gross new customers hid this problem for two quarters. Track churn alongside it from Q4.</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Acme QBR Customer">
  <a:themeElements>
    <a:clrScheme name="Acme QBR Customer">
      <a:dk1>
        <a:srgbClr val="1C2733"/>
      </a:dk1>
      <a:lt1>
        <a:srgbClr val="FFFFFF"/>
      </a:lt1>
      <a:dk2>
        <a:srgbClr val="5B6B7A"/>
      </a:dk2>
      <a:lt2>
        <a:srgbClr val="EEF1F4"/>
      </a:lt2>
      <a:accent1>
        <a:srgbClr val="C4502F"/>
      </a:accent1>
      <a:accent2>
        <a:srgbClr val="2A8C82"/>
      </a:accent2>
      <a:accent3>
        <a:srgbClr val="A7B1BB"/>
      </a:accent3>
      <a:accent4>
        <a:srgbClr val="3E5A73"/>
      </a:accent4>
      <a:accent5>
        <a:srgbClr val="E3A857"/>
      </a:accent5>
      <a:accent6>
        <a:srgbClr val="7A8C99"/>
      </a:accent6>
      <a:hlink>
        <a:srgbClr val="2A6F97"/>
      </a:hlink>
      <a:folHlink>
        <a:srgbClr val="6B4E71"/>
      </a:folHlink>
    </a:clrScheme>
    <a:fontScheme name="Acme QBR Custom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Acme Q3 2026 QBR — Customer</dc:title>
  <dc:subject>PptxGenJS Presentation</dc:subject>
  <dc:creator>PptxGenJS</dc:creator>
  <cp:lastModifiedBy>PptxGenJS</cp:lastModifiedBy>
  <cp:revision>1</cp:revision>
  <dcterms:created xsi:type="dcterms:W3CDTF">2026-10-15T11:19:15Z</dcterms:created>
  <dcterms:modified xsi:type="dcterms:W3CDTF">2026-10-15T11:19:15Z</dcterms:modified>
</cp:coreProperties>
</file>