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SMB customers</c:v>
                </c:pt>
              </c:strCache>
            </c:strRef>
          </c:tx>
          <c:spPr>
            <a:solidFill>
              <a:srgbClr val="2A78D6"/>
            </a:solidFill>
          </c:spPr>
          <c:dLbls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210.0</c:v>
                </c:pt>
                <c:pt idx="1">
                  <c:v>198.0</c:v>
                </c:pt>
                <c:pt idx="2">
                  <c:v>225.0</c:v>
                </c:pt>
                <c:pt idx="3">
                  <c:v>240.0</c:v>
                </c:pt>
                <c:pt idx="4">
                  <c:v>231.0</c:v>
                </c:pt>
                <c:pt idx="5">
                  <c:v>262.0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SMB customers</c:v>
                </c:pt>
              </c:strCache>
            </c:strRef>
          </c:tx>
          <c:spPr>
            <a:solidFill>
              <a:srgbClr val="EB6834"/>
            </a:solidFill>
          </c:spPr>
          <c:dLbls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48.0</c:v>
                </c:pt>
                <c:pt idx="1">
                  <c:v>61.0</c:v>
                </c:pt>
                <c:pt idx="2">
                  <c:v>74.0</c:v>
                </c:pt>
                <c:pt idx="3">
                  <c:v>83.0</c:v>
                </c:pt>
                <c:pt idx="4">
                  <c:v>96.0</c:v>
                </c:pt>
                <c:pt idx="5">
                  <c:v>104.0</c:v>
                </c:pt>
              </c:numCache>
            </c:numRef>
          </c:val>
        </c:ser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F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A8984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SMB first response (hours)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8"/>
            <c:spPr>
              <a:solidFill>
                <a:srgbClr val="2A78D6"/>
              </a:solidFill>
              <a:ln>
                <a:solidFill>
                  <a:srgbClr val="FCFCFB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100">
                      <a:solidFill>
                        <a:srgbClr val="52514E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100">
                      <a:solidFill>
                        <a:srgbClr val="52514E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6.1</c:v>
                </c:pt>
                <c:pt idx="1">
                  <c:v>7.4</c:v>
                </c:pt>
                <c:pt idx="2">
                  <c:v>9.8</c:v>
                </c:pt>
                <c:pt idx="3">
                  <c:v>11.2</c:v>
                </c:pt>
                <c:pt idx="4">
                  <c:v>12.6</c:v>
                </c:pt>
                <c:pt idx="5">
                  <c:v>13.9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F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A898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SMB NPS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8"/>
            <c:spPr>
              <a:solidFill>
                <a:srgbClr val="2A78D6"/>
              </a:solidFill>
              <a:ln>
                <a:solidFill>
                  <a:srgbClr val="FCFCFB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100">
                      <a:solidFill>
                        <a:srgbClr val="52514E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100">
                      <a:solidFill>
                        <a:srgbClr val="52514E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41.0</c:v>
                </c:pt>
                <c:pt idx="1">
                  <c:v>38.0</c:v>
                </c:pt>
                <c:pt idx="2">
                  <c:v>35.0</c:v>
                </c:pt>
                <c:pt idx="3">
                  <c:v>33.0</c:v>
                </c:pt>
                <c:pt idx="4">
                  <c:v>31.0</c:v>
                </c:pt>
                <c:pt idx="5">
                  <c:v>29.0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F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A898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SMB tickets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8"/>
            <c:spPr>
              <a:solidFill>
                <a:srgbClr val="2A78D6"/>
              </a:solidFill>
              <a:ln>
                <a:solidFill>
                  <a:srgbClr val="FCFCFB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100">
                      <a:solidFill>
                        <a:srgbClr val="52514E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100">
                      <a:solidFill>
                        <a:srgbClr val="52514E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920.0</c:v>
                </c:pt>
                <c:pt idx="1">
                  <c:v>1010.0</c:v>
                </c:pt>
                <c:pt idx="2">
                  <c:v>1180.0</c:v>
                </c:pt>
                <c:pt idx="3">
                  <c:v>1295.0</c:v>
                </c:pt>
                <c:pt idx="4">
                  <c:v>1402.0</c:v>
                </c:pt>
                <c:pt idx="5">
                  <c:v>1530.0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F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A8984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ymbol val="circle"/>
            <c:size val="8"/>
            <c:spPr>
              <a:solidFill>
                <a:srgbClr val="1BAF7A"/>
              </a:solidFill>
              <a:ln>
                <a:solidFill>
                  <a:srgbClr val="FCFCF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388000.0</c:v>
                </c:pt>
                <c:pt idx="1">
                  <c:v>401000.0</c:v>
                </c:pt>
                <c:pt idx="2">
                  <c:v>398000.0</c:v>
                </c:pt>
                <c:pt idx="3">
                  <c:v>420000.0</c:v>
                </c:pt>
                <c:pt idx="4">
                  <c:v>431000.0</c:v>
                </c:pt>
                <c:pt idx="5">
                  <c:v>446000.0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8"/>
            <c:spPr>
              <a:solidFill>
                <a:srgbClr val="EB6834"/>
              </a:solidFill>
              <a:ln>
                <a:solidFill>
                  <a:srgbClr val="FCFCF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214000.0</c:v>
                </c:pt>
                <c:pt idx="1">
                  <c:v>221000.0</c:v>
                </c:pt>
                <c:pt idx="2">
                  <c:v>224500.0</c:v>
                </c:pt>
                <c:pt idx="3">
                  <c:v>231000.0</c:v>
                </c:pt>
                <c:pt idx="4">
                  <c:v>233200.0</c:v>
                </c:pt>
                <c:pt idx="5">
                  <c:v>240100.0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8"/>
            <c:spPr>
              <a:solidFill>
                <a:srgbClr val="2A78D6"/>
              </a:solidFill>
              <a:ln>
                <a:solidFill>
                  <a:srgbClr val="FCFCF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182000.0</c:v>
                </c:pt>
                <c:pt idx="1">
                  <c:v>187500.0</c:v>
                </c:pt>
                <c:pt idx="2">
                  <c:v>190100.0</c:v>
                </c:pt>
                <c:pt idx="3">
                  <c:v>191800.0</c:v>
                </c:pt>
                <c:pt idx="4">
                  <c:v>190200.0</c:v>
                </c:pt>
                <c:pt idx="5">
                  <c:v>192400.0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F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F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A898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in one line: SMB growth stalled while sign-ups hit a high; mid-market and enterprise carried revenue growth. We need two decisions: SMB support capacity and SMB acquisition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adds = new customers minus churned customers. Q2 figures in brackets. Monthly values are September; first response and NPS change shown from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is right that SMB sign-ups are at a high (September is the highest month in the data). Losses rose faster than sign-ups, so net adds did not move. We cannot state a churn rate: the data has no count of total SMB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SMB series moved in one direction every month for six months: first response up, NPS down, churned customers up. Six points cannot show cause. Exit reasons are not in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MRR growth June to September by segment. SMB is about a fifth of MRR. Enterprise sign-ups are small numbers, so one or two deals can swing a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Mid-market added the same net number of customers in Q2 and Q3. Its losses rose a little and its response time drifted up less than an hour. Enterprise lost one customer in each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discuss: a time-boxed test (faster queue for part of SMB) answers the causation question cheaply before a full commitment. Track SMB first response and losses per 100 sign-ups monthly.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call depends on Call 1. If support is funded, keeping the pace is easier to defend. Losses per 100 sign-ups is the simplest number to watch until we have a true churn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9EC5F4"/>
                </a:solidFill>
                <a:latin typeface="Calibri"/>
              </a:rPr>
              <a:t>ACME QUARTERLY BUSINESS REVIEW · Q3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Customers: SMB sign-ups rose, net adds did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DDE6F2"/>
                </a:solidFill>
                <a:latin typeface="Calibri"/>
              </a:rPr>
              <a:t>SMB sign-ups and losses both rose by 100 in Q3, so net adds stayed flat; two calls for the room today.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CUSTOMERS · 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Enterprise drove growth; SMB signed 16% more customers and added no more net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167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554480"/>
                <a:gridCol w="1554480"/>
                <a:gridCol w="1737360"/>
                <a:gridCol w="1371600"/>
                <a:gridCol w="1764792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New logos</a:t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Churned</a:t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Net adds</a:t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MRR, Sep</a:t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NPS, Sep</a:t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First response, Sep</a:t>
                      </a:r>
                    </a:p>
                  </a:txBody>
                  <a:tcPr anchor="ctr">
                    <a:solidFill>
                      <a:srgbClr val="F3F2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SMB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733  (Q2 633)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23B22"/>
                          </a:solidFill>
                          <a:latin typeface="Calibri"/>
                        </a:rPr>
                        <a:t>283  (Q2 183)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450  (Q2 450)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$192.4k  (+1.2%)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23B22"/>
                          </a:solidFill>
                          <a:latin typeface="Calibri"/>
                        </a:rPr>
                        <a:t>29  (Apr 41)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23B22"/>
                          </a:solidFill>
                          <a:latin typeface="Calibri"/>
                        </a:rPr>
                        <a:t>13.9 h  (Apr 6.1 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Mid-market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107  (Q2 102)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18  (Q2 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89  (Q2 89)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$240.1k  (+6.9%)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44  (Apr 47)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5.1 h  (Apr 4.2 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15  (Q2 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  (Q2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14  (Q2 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$446.0k  (+12.1%)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51  (Apr 52)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2.3 h  (Apr 2.0 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SMB churned 283 customers in Q3, up from 183, and its September first response time was 13.9 h, against 5.1 h in mid-market.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Total MRR grew from $812.6k in June to $878.5k in September (+8.1%).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CUSTOMERS · 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SMB signed 100 more customers than in Q2 and lost 100 more, so net growth stayed at 450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828800"/>
            <a:ext cx="3867912" cy="43891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38328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514E"/>
                </a:solidFill>
                <a:latin typeface="Calibri"/>
              </a:rPr>
              <a:t>SMB customer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2316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52514E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4231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52514E"/>
                </a:solidFill>
                <a:latin typeface="Calibri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24231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52514E"/>
                </a:solidFill>
                <a:latin typeface="Calibri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8036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8803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633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28803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733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3756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Churned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3375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−183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33375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−283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794760"/>
            <a:ext cx="13716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Net adds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947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450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79476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450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3776472"/>
            <a:ext cx="3291840" cy="0"/>
          </a:xfrm>
          <a:prstGeom prst="line">
            <a:avLst/>
          </a:prstGeom>
          <a:ln>
            <a:solidFill>
              <a:srgbClr val="8A8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0" y="4069080"/>
            <a:ext cx="3383280" cy="2011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In April SMB lost 23 customers for every 100 it signed. In September it lost 40.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8A8984"/>
                </a:solidFill>
                <a:latin typeface="Calibri"/>
              </a:rPr>
              <a:t>The data has no total customer count, so this is not a churn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CUSTOMERS · 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SMB support slowed every month from April to September, while NPS and losses moved the wrong 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384048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514E"/>
                </a:solidFill>
                <a:latin typeface="Calibri"/>
              </a:rPr>
              <a:t>First response time, hours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43400" y="1828800"/>
          <a:ext cx="384048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34840" y="1737360"/>
            <a:ext cx="36576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514E"/>
                </a:solidFill>
                <a:latin typeface="Calibri"/>
              </a:rPr>
              <a:t>NPS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229600" y="1828800"/>
          <a:ext cx="3657600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321040" y="1737360"/>
            <a:ext cx="36576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2514E"/>
                </a:solidFill>
                <a:latin typeface="Calibri"/>
              </a:rPr>
              <a:t>Support tickets per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11091672" cy="9601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76672"/>
            <a:ext cx="10698480" cy="86868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Tickets rose 66% from April to September; the first reply now takes 2.3× as long.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This is a pattern, not proof. Six months of data cannot separate support from price, product fit or the mix of customers being signed.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CUSTOMERS · 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Enterprise delivered 73% of MRR growth since June; SMB delivered 3%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7498079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828800"/>
            <a:ext cx="32918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+12.1%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87168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Enterprise MRR, June to September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8892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$398.0k → $446.0k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291840"/>
            <a:ext cx="32918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+6.9%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950208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Mid-market MRR, June to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25196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$224.5k → $240.1k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32918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+1.2%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413248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SMB MRR, June to September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715000"/>
            <a:ext cx="32918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$190.1k → $192.4k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CUSTOMERS · Q3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Mid-market and enterprise lost less ground than SMB on service and NPS; mid-market net adds were flat too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76672" cy="361188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45720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Mid-market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5.1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72968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first response, Sep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74720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April: 4.2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14600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72968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NPS, 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74720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April: 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77639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36007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net adds, 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9377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Q2: 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77639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636007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churned, 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377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Q2: 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5376672" cy="361188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965960"/>
            <a:ext cx="45720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514600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2.3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172968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first response, Sep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474720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April: 2.0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514600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172968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NPS, 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474720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April: 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3977639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636007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net adds, 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9377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Q2: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77639"/>
            <a:ext cx="237744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636007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churned, 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937759"/>
            <a:ext cx="2377440" cy="365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Calibri"/>
              </a:rPr>
              <a:t>Q2: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DECISION FOR THE ROOM · CALL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The room should decide whether to fund SMB support back to April response times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35661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5029200" cy="3108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First response rose every month, 6.1 h → 13.9 h. NPS fell every month, 41 → 29.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Customers lost rose every month too, 48 → 104.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SMB tickets grew 36% quarter on quarter, faster than SMB sign-ups (+16%). If that continues, the queue grows unless capacity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73152" cy="35661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83080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331720"/>
            <a:ext cx="5029200" cy="3108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Six months move together, but that does not prove slow support causes the losses. Price, product fit or the type of customer being signed could explain them.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SMB is 22% of MRR and grew 1.2% in Q3. Money spent here is not spent on enterprise, which delivered 73% of MRR growth since June.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We have no exit reasons and no total customer count, so we cannot size the payoff yet.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Ask: a yes or no, an owner, and whether to start with a time-boxed test on part of the SMB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Calibri"/>
              </a:rPr>
              <a:t>DECISION FOR THE ROOM · CALL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Calibri"/>
              </a:rPr>
              <a:t>The room should decide whether SMB acquisition keeps its Q3 pace while losses rise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91672" cy="0"/>
          </a:xfrm>
          <a:prstGeom prst="line">
            <a:avLst/>
          </a:prstGeom>
          <a:ln w="12700">
            <a:solidFill>
              <a:srgbClr val="E4E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Calibri"/>
              </a:rPr>
              <a:t>Source: data/q3_metrics.csv (monthly, Apr–Sep)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35661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5029200" cy="3108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Sales signed more SMB customers in Q3 than in Q2, with 262 in September, the highest of the six months.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Net adds held at 450 a quarter, and SMB MRR still rose, $190.1k → $192.4k.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Slowing sign-ups cuts new logos now, while any retention gain is still unproven.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28800"/>
            <a:ext cx="73152" cy="35661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83080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Calibri"/>
              </a:rPr>
              <a:t>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331720"/>
            <a:ext cx="5029200" cy="3108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The extra 100 sign-ups in Q3 produced no extra net growth.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For every 100 sign-ups SMB now loses 40, up from 23 in April (not a churn rate).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Every new SMB customer adds to a support queue already at 13.9 h for a first reply.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Ask: keep the pace, hold it flat until support recovers, or shift effort to mid-market and enterprise.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